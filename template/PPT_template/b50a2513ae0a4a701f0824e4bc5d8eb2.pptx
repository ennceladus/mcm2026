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4" r:id="rId4"/>
    <p:sldId id="265" r:id="rId5"/>
    <p:sldId id="266" r:id="rId6"/>
    <p:sldId id="260" r:id="rId7"/>
    <p:sldId id="256" r:id="rId8"/>
    <p:sldId id="257" r:id="rId9"/>
    <p:sldId id="259" r:id="rId10"/>
    <p:sldId id="261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4E3"/>
    <a:srgbClr val="FEF5FF"/>
    <a:srgbClr val="F5FFF6"/>
    <a:srgbClr val="B2EBF2"/>
    <a:srgbClr val="FFFFFF"/>
    <a:srgbClr val="FBF4FC"/>
    <a:srgbClr val="99E6F0"/>
    <a:srgbClr val="FCE5E8"/>
    <a:srgbClr val="FCF1E0"/>
    <a:srgbClr val="EDF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 snapToGrid="0" showGuides="1">
      <p:cViewPr>
        <p:scale>
          <a:sx n="66" d="100"/>
          <a:sy n="66" d="100"/>
        </p:scale>
        <p:origin x="336" y="2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4" Type="http://schemas.openxmlformats.org/officeDocument/2006/relationships/image" Target="../media/image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80FDD-0C55-4D94-9DBE-61A4A9F307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CA93328-6A55-4404-AAE2-F984BFFFF1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E11698-C3BD-4AA3-A81E-CED85CF55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FEF1-667A-403A-9ABC-9CC22F7AD599}" type="datetimeFigureOut">
              <a:rPr lang="zh-CN" altLang="en-US" smtClean="0"/>
              <a:t>2024-02-03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B227A8-A11A-44FF-B5AA-0118785E3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59F8ED-4B9A-4022-BE7C-3C0C3C14E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8D70C-5412-41C0-B9B5-734003FB46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090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C07720-70CE-49EC-84E8-CEC7B7D33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BBA846-B879-4DFC-96E6-25DFA06F6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3CB71A-F598-46E6-BC9D-EE245AB67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FEF1-667A-403A-9ABC-9CC22F7AD599}" type="datetimeFigureOut">
              <a:rPr lang="zh-CN" altLang="en-US" smtClean="0"/>
              <a:t>2024-02-03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2B0363-5653-4602-B8A6-62B4CEBC2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FF407C-0B66-4D13-BA31-252347348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8D70C-5412-41C0-B9B5-734003FB46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7508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F34BC8-DAE1-4DD6-8C32-C9A98CBF3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ECD33F-D8CD-4297-82F1-37CCA5124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744C0B-DCC7-487F-BAD5-539D332F7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FEF1-667A-403A-9ABC-9CC22F7AD599}" type="datetimeFigureOut">
              <a:rPr lang="zh-CN" altLang="en-US" smtClean="0"/>
              <a:t>2024-02-03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E8C7AE-5A60-4A26-B23D-2B58FD174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D724B2-CBD5-4628-BAC3-5E458ED13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8D70C-5412-41C0-B9B5-734003FB46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263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36A678-ED05-4ADE-97C6-6AFBB44F3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D341EF-9E61-421E-BC4E-766B9681DD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86E328C-B5CD-47F1-B6F6-03732ACBBF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2E4843-E859-4F44-9829-D1725A2E9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FEF1-667A-403A-9ABC-9CC22F7AD599}" type="datetimeFigureOut">
              <a:rPr lang="zh-CN" altLang="en-US" smtClean="0"/>
              <a:t>2024-02-03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1B44E4D-BEE9-49CF-83CA-64A6DB643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8C67B8-8F18-4C0E-A911-D1B22DBCB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8D70C-5412-41C0-B9B5-734003FB46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247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D9DD33-2BEA-4F27-B5CF-A654FB68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2EC3746-9798-4DB3-97A2-0F214ED91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C762116-1CC2-4091-B70D-4E4B3DA2F1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012F32E-5E80-421E-B674-8A71263EA9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CA63DC0-2BFF-4E45-A779-50FB000185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5AD75FF-B132-435B-BFE1-ECDC0D886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FEF1-667A-403A-9ABC-9CC22F7AD599}" type="datetimeFigureOut">
              <a:rPr lang="zh-CN" altLang="en-US" smtClean="0"/>
              <a:t>2024-02-03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D839E59-E406-4656-AB81-FF1559E43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FD87A9E-B4AF-4891-829A-CC40D00C0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8D70C-5412-41C0-B9B5-734003FB46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0656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5A0698-8DD4-4944-B2D6-94B58FCDD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1C2BAED-D77D-4F09-8908-97EBB3FC0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FEF1-667A-403A-9ABC-9CC22F7AD599}" type="datetimeFigureOut">
              <a:rPr lang="zh-CN" altLang="en-US" smtClean="0"/>
              <a:t>2024-02-03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6CDE2B-5840-4A5C-9851-D4B3FD6B5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7425F5D-5394-459E-BE2E-6F3C1EF41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8D70C-5412-41C0-B9B5-734003FB46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823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F3B8241-1089-43C7-9F84-4F0D704DA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FEF1-667A-403A-9ABC-9CC22F7AD599}" type="datetimeFigureOut">
              <a:rPr lang="zh-CN" altLang="en-US" smtClean="0"/>
              <a:t>2024-02-03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C4C9214-A275-4D71-8881-755E7D13C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9E36CC-022F-4FF8-8647-5E54A5674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8D70C-5412-41C0-B9B5-734003FB46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680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D2FC4C-5281-45D4-8E58-B67AA3307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4F2118-A097-437B-B45B-E7A23B2EC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A34BA7B-8244-4653-84F6-57725702B1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D249A8F-A761-4097-A9F0-0D6ED0D0F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FEF1-667A-403A-9ABC-9CC22F7AD599}" type="datetimeFigureOut">
              <a:rPr lang="zh-CN" altLang="en-US" smtClean="0"/>
              <a:t>2024-02-03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5BD0D8-EE84-4C23-899C-B44142EE2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4C54FA2-A1BC-4E11-9597-58F8A3A9E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8D70C-5412-41C0-B9B5-734003FB46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9537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472D0D-2133-4631-9A10-4026A300F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854A931-9769-42FE-ABFB-6CCD23C60A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3DBB165-CB53-44E6-BDC1-ACCC61BCBF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273CBA-DA38-4660-88A3-5614201FE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FEF1-667A-403A-9ABC-9CC22F7AD599}" type="datetimeFigureOut">
              <a:rPr lang="zh-CN" altLang="en-US" smtClean="0"/>
              <a:t>2024-02-03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983D93-14BB-4E6C-B596-6661F50AE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AE5D33-0E87-4909-9A1E-BD4DCCF38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8D70C-5412-41C0-B9B5-734003FB46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7231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670503-408D-4854-A2AF-B599262B6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9C9D9F4-6776-4E3C-A73F-7434C67A9E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0523A1-7554-4FF9-9B0A-52484102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FEF1-667A-403A-9ABC-9CC22F7AD599}" type="datetimeFigureOut">
              <a:rPr lang="zh-CN" altLang="en-US" smtClean="0"/>
              <a:t>2024-02-03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E5653D-85AF-42EE-867F-9C1D284D7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FDA9DB-EF26-48C3-B59B-952B61292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8D70C-5412-41C0-B9B5-734003FB46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3374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6208B96-EF21-44EF-841B-69B44435C4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0EF7230-373F-424D-9667-C24DF1A475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E1BDB5-CC68-4DFE-9A60-A54FAD918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FEF1-667A-403A-9ABC-9CC22F7AD599}" type="datetimeFigureOut">
              <a:rPr lang="zh-CN" altLang="en-US" smtClean="0"/>
              <a:t>2024-02-03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3472AE-6541-405C-BDC2-FC70FF77F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BCD346-B962-44DE-AEAD-4918DB79E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8D70C-5412-41C0-B9B5-734003FB46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0773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1C590E6-9AA0-4FB2-BEC8-882D87DAC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65439C-76B2-4A92-85A9-ECE11D9708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EE7A20-9D4B-4A93-8724-D1D9FEE7D7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F1FEF1-667A-403A-9ABC-9CC22F7AD599}" type="datetimeFigureOut">
              <a:rPr lang="zh-CN" altLang="en-US" smtClean="0"/>
              <a:t>2024-02-03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2214AF-7635-4992-89A8-01746E6D4E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13845A-D08C-4CB4-B7B8-1184521DF0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8D70C-5412-41C0-B9B5-734003FB46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1466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>
            <a:extLst>
              <a:ext uri="{FF2B5EF4-FFF2-40B4-BE49-F238E27FC236}">
                <a16:creationId xmlns:a16="http://schemas.microsoft.com/office/drawing/2014/main" id="{82B89956-7599-42A2-BC9B-F40986FFCB20}"/>
              </a:ext>
            </a:extLst>
          </p:cNvPr>
          <p:cNvSpPr/>
          <p:nvPr/>
        </p:nvSpPr>
        <p:spPr>
          <a:xfrm>
            <a:off x="2866597" y="522225"/>
            <a:ext cx="8590073" cy="2824480"/>
          </a:xfrm>
          <a:prstGeom prst="roundRect">
            <a:avLst>
              <a:gd name="adj" fmla="val 8753"/>
            </a:avLst>
          </a:prstGeom>
          <a:noFill/>
          <a:ln w="19050">
            <a:solidFill>
              <a:srgbClr val="B6B3B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FE4D269-BC36-42B3-9A69-FFEC14602FB8}"/>
              </a:ext>
            </a:extLst>
          </p:cNvPr>
          <p:cNvSpPr/>
          <p:nvPr/>
        </p:nvSpPr>
        <p:spPr>
          <a:xfrm>
            <a:off x="8031480" y="4454400"/>
            <a:ext cx="3299063" cy="195255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32B25C">
                  <a:alpha val="31000"/>
                </a:srgbClr>
              </a:gs>
            </a:gsLst>
            <a:lin ang="16200000" scaled="1"/>
            <a:tileRect/>
          </a:gra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4CB8698-6393-432C-A6C7-905A89CA8D56}"/>
              </a:ext>
            </a:extLst>
          </p:cNvPr>
          <p:cNvSpPr/>
          <p:nvPr/>
        </p:nvSpPr>
        <p:spPr>
          <a:xfrm>
            <a:off x="0" y="0"/>
            <a:ext cx="19255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2330760,23</a:t>
            </a:r>
            <a:r>
              <a:rPr lang="zh-CN" altLang="en-US" dirty="0"/>
              <a:t>年</a:t>
            </a:r>
            <a:r>
              <a:rPr lang="en-US" altLang="zh-CN" dirty="0"/>
              <a:t>Z</a:t>
            </a:r>
            <a:r>
              <a:rPr lang="zh-CN" altLang="en-US" dirty="0"/>
              <a:t>题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4A70BBF-2BB4-40D6-9811-10E741F802C8}"/>
              </a:ext>
            </a:extLst>
          </p:cNvPr>
          <p:cNvSpPr/>
          <p:nvPr/>
        </p:nvSpPr>
        <p:spPr>
          <a:xfrm>
            <a:off x="2480043" y="234387"/>
            <a:ext cx="9175509" cy="6389225"/>
          </a:xfrm>
          <a:prstGeom prst="rect">
            <a:avLst/>
          </a:prstGeom>
          <a:noFill/>
          <a:ln w="38100">
            <a:solidFill>
              <a:srgbClr val="7E7979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513E9FB-EADA-4692-93C5-C4FB5CA19554}"/>
              </a:ext>
            </a:extLst>
          </p:cNvPr>
          <p:cNvSpPr/>
          <p:nvPr/>
        </p:nvSpPr>
        <p:spPr>
          <a:xfrm>
            <a:off x="3379473" y="371857"/>
            <a:ext cx="3749040" cy="505968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92000">
                <a:srgbClr val="32B25C"/>
              </a:gs>
            </a:gsLst>
            <a:lin ang="5400000" scaled="1"/>
          </a:gra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model of the impact of hosting the Olympic Games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C504425-452C-4FCA-8BA9-E51F4BB65A03}"/>
              </a:ext>
            </a:extLst>
          </p:cNvPr>
          <p:cNvCxnSpPr/>
          <p:nvPr/>
        </p:nvCxnSpPr>
        <p:spPr>
          <a:xfrm>
            <a:off x="8031480" y="522225"/>
            <a:ext cx="0" cy="2749804"/>
          </a:xfrm>
          <a:prstGeom prst="line">
            <a:avLst/>
          </a:prstGeom>
          <a:ln w="19050">
            <a:solidFill>
              <a:srgbClr val="B6B3B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546CFAE-518E-4F91-8542-FDB4928DFBC4}"/>
              </a:ext>
            </a:extLst>
          </p:cNvPr>
          <p:cNvSpPr/>
          <p:nvPr/>
        </p:nvSpPr>
        <p:spPr>
          <a:xfrm>
            <a:off x="3196604" y="1081025"/>
            <a:ext cx="1337297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Economy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5DC7DDE-A47D-4A85-A4B1-E2251FB03874}"/>
              </a:ext>
            </a:extLst>
          </p:cNvPr>
          <p:cNvSpPr/>
          <p:nvPr/>
        </p:nvSpPr>
        <p:spPr>
          <a:xfrm>
            <a:off x="3196604" y="1493521"/>
            <a:ext cx="1337297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Society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6E52581E-F40B-4EAB-9D0B-A74D056B4756}"/>
              </a:ext>
            </a:extLst>
          </p:cNvPr>
          <p:cNvSpPr/>
          <p:nvPr/>
        </p:nvSpPr>
        <p:spPr>
          <a:xfrm>
            <a:off x="3196603" y="1906017"/>
            <a:ext cx="1337297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050D110-AA59-44C8-AD0F-5A2546AB3CEE}"/>
              </a:ext>
            </a:extLst>
          </p:cNvPr>
          <p:cNvSpPr/>
          <p:nvPr/>
        </p:nvSpPr>
        <p:spPr>
          <a:xfrm>
            <a:off x="3196602" y="2318513"/>
            <a:ext cx="1337297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Politics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782FD08-AF3F-49C5-917C-1F9D8E09D04F}"/>
              </a:ext>
            </a:extLst>
          </p:cNvPr>
          <p:cNvSpPr/>
          <p:nvPr/>
        </p:nvSpPr>
        <p:spPr>
          <a:xfrm>
            <a:off x="3196602" y="2731009"/>
            <a:ext cx="1337297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OFI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右大括号 16">
            <a:extLst>
              <a:ext uri="{FF2B5EF4-FFF2-40B4-BE49-F238E27FC236}">
                <a16:creationId xmlns:a16="http://schemas.microsoft.com/office/drawing/2014/main" id="{FD90C288-B0DE-4CD1-9BFB-50C49515D745}"/>
              </a:ext>
            </a:extLst>
          </p:cNvPr>
          <p:cNvSpPr/>
          <p:nvPr/>
        </p:nvSpPr>
        <p:spPr>
          <a:xfrm>
            <a:off x="4606291" y="1008889"/>
            <a:ext cx="333202" cy="2194560"/>
          </a:xfrm>
          <a:prstGeom prst="rightBrace">
            <a:avLst/>
          </a:prstGeom>
          <a:ln w="28575">
            <a:solidFill>
              <a:srgbClr val="2DBD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271135EA-B860-49B9-8086-412706BEA278}"/>
              </a:ext>
            </a:extLst>
          </p:cNvPr>
          <p:cNvSpPr/>
          <p:nvPr/>
        </p:nvSpPr>
        <p:spPr>
          <a:xfrm>
            <a:off x="5096400" y="1529144"/>
            <a:ext cx="1853178" cy="105460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53C7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Combined</a:t>
            </a:r>
          </a:p>
          <a:p>
            <a:pPr algn="ctr"/>
            <a:r>
              <a:rPr lang="en-US" altLang="zh-CN" b="1" dirty="0">
                <a:solidFill>
                  <a:srgbClr val="53C7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Weights</a:t>
            </a:r>
            <a:endParaRPr lang="zh-CN" altLang="en-US" b="1" dirty="0">
              <a:solidFill>
                <a:srgbClr val="53C78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DFF6AA2-DD88-4C08-A5BC-6FD0311CF34B}"/>
              </a:ext>
            </a:extLst>
          </p:cNvPr>
          <p:cNvSpPr txBox="1"/>
          <p:nvPr/>
        </p:nvSpPr>
        <p:spPr>
          <a:xfrm>
            <a:off x="5326047" y="1137300"/>
            <a:ext cx="15771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AHP-CRITIC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7D587F7-E6C6-4B47-BB58-19945ADB1F79}"/>
              </a:ext>
            </a:extLst>
          </p:cNvPr>
          <p:cNvSpPr txBox="1"/>
          <p:nvPr/>
        </p:nvSpPr>
        <p:spPr>
          <a:xfrm>
            <a:off x="5279650" y="2904729"/>
            <a:ext cx="16235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Generalizability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A701A039-A9EB-4CD1-A4D3-3993ABEAF2D8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6022989" y="2583752"/>
            <a:ext cx="0" cy="320977"/>
          </a:xfrm>
          <a:prstGeom prst="straightConnector1">
            <a:avLst/>
          </a:prstGeom>
          <a:ln w="28575">
            <a:solidFill>
              <a:srgbClr val="7389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1AB7564E-E180-4205-BDE8-B57B5F07C694}"/>
              </a:ext>
            </a:extLst>
          </p:cNvPr>
          <p:cNvSpPr/>
          <p:nvPr/>
        </p:nvSpPr>
        <p:spPr>
          <a:xfrm>
            <a:off x="8468862" y="624841"/>
            <a:ext cx="2663057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Distinguishability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984AD4D-1743-49D5-AFC1-F3B6EAFAC959}"/>
              </a:ext>
            </a:extLst>
          </p:cNvPr>
          <p:cNvSpPr/>
          <p:nvPr/>
        </p:nvSpPr>
        <p:spPr>
          <a:xfrm>
            <a:off x="9119613" y="1137300"/>
            <a:ext cx="1361554" cy="562469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53C7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K-means</a:t>
            </a:r>
            <a:endParaRPr lang="zh-CN" altLang="en-US" b="1" dirty="0">
              <a:solidFill>
                <a:srgbClr val="53C78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2C3D4143-1A7D-4C48-8BBA-E59EB33F8B21}"/>
              </a:ext>
            </a:extLst>
          </p:cNvPr>
          <p:cNvSpPr/>
          <p:nvPr/>
        </p:nvSpPr>
        <p:spPr>
          <a:xfrm>
            <a:off x="8914073" y="2204310"/>
            <a:ext cx="1837612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types of areas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43E165E4-EBDB-467D-A796-E4AFC659CED6}"/>
              </a:ext>
            </a:extLst>
          </p:cNvPr>
          <p:cNvCxnSpPr>
            <a:cxnSpLocks/>
          </p:cNvCxnSpPr>
          <p:nvPr/>
        </p:nvCxnSpPr>
        <p:spPr>
          <a:xfrm>
            <a:off x="9800390" y="1699769"/>
            <a:ext cx="0" cy="504541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C13A85D0-2F63-4C97-B732-7B94BDB7D8C6}"/>
              </a:ext>
            </a:extLst>
          </p:cNvPr>
          <p:cNvCxnSpPr>
            <a:cxnSpLocks/>
          </p:cNvCxnSpPr>
          <p:nvPr/>
        </p:nvCxnSpPr>
        <p:spPr>
          <a:xfrm>
            <a:off x="9800390" y="2616806"/>
            <a:ext cx="0" cy="388523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71B3C624-01B6-4AD5-932C-80FD85DD8F5F}"/>
              </a:ext>
            </a:extLst>
          </p:cNvPr>
          <p:cNvSpPr txBox="1"/>
          <p:nvPr/>
        </p:nvSpPr>
        <p:spPr>
          <a:xfrm>
            <a:off x="9203767" y="1790256"/>
            <a:ext cx="744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Elbow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8CF494B-50AC-46C0-B323-0FC80007C8A7}"/>
              </a:ext>
            </a:extLst>
          </p:cNvPr>
          <p:cNvSpPr txBox="1"/>
          <p:nvPr/>
        </p:nvSpPr>
        <p:spPr>
          <a:xfrm>
            <a:off x="9786153" y="1800479"/>
            <a:ext cx="744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Law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7ECAC84-0987-4AB2-928D-4751FF3C2CBD}"/>
              </a:ext>
            </a:extLst>
          </p:cNvPr>
          <p:cNvSpPr txBox="1"/>
          <p:nvPr/>
        </p:nvSpPr>
        <p:spPr>
          <a:xfrm>
            <a:off x="9253095" y="2861175"/>
            <a:ext cx="13911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 map</a:t>
            </a:r>
            <a:endParaRPr lang="zh-CN" altLang="en-US" sz="1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7E956B89-B72C-4DE3-81BA-237E4A589735}"/>
              </a:ext>
            </a:extLst>
          </p:cNvPr>
          <p:cNvSpPr/>
          <p:nvPr/>
        </p:nvSpPr>
        <p:spPr>
          <a:xfrm>
            <a:off x="2608141" y="3437889"/>
            <a:ext cx="4737540" cy="3084070"/>
          </a:xfrm>
          <a:prstGeom prst="roundRect">
            <a:avLst>
              <a:gd name="adj" fmla="val 8753"/>
            </a:avLst>
          </a:prstGeom>
          <a:noFill/>
          <a:ln w="19050">
            <a:solidFill>
              <a:srgbClr val="B6B3B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CF005877-643B-4D35-984E-177A7EDEE863}"/>
              </a:ext>
            </a:extLst>
          </p:cNvPr>
          <p:cNvSpPr/>
          <p:nvPr/>
        </p:nvSpPr>
        <p:spPr>
          <a:xfrm>
            <a:off x="2694568" y="3572643"/>
            <a:ext cx="2887336" cy="39280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Timeline for the next 50 years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10EBC6B-A2E3-4527-9EA2-7B40A72DCF27}"/>
              </a:ext>
            </a:extLst>
          </p:cNvPr>
          <p:cNvSpPr/>
          <p:nvPr/>
        </p:nvSpPr>
        <p:spPr>
          <a:xfrm>
            <a:off x="2700664" y="3986785"/>
            <a:ext cx="4427849" cy="242016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32B25C">
                  <a:alpha val="54000"/>
                </a:srgbClr>
              </a:gs>
            </a:gsLst>
            <a:lin ang="5400000" scaled="1"/>
          </a:gra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FB6F3FE-84B2-4475-959C-7697290C52CE}"/>
              </a:ext>
            </a:extLst>
          </p:cNvPr>
          <p:cNvSpPr txBox="1"/>
          <p:nvPr/>
        </p:nvSpPr>
        <p:spPr>
          <a:xfrm>
            <a:off x="2694568" y="3986785"/>
            <a:ext cx="4427849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b="1" dirty="0">
                <a:solidFill>
                  <a:srgbClr val="32B2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 1 :</a:t>
            </a:r>
          </a:p>
          <a:p>
            <a:r>
              <a:rPr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 permanent venues for highly environmentally demanding competitions</a:t>
            </a:r>
          </a:p>
          <a:p>
            <a:r>
              <a:rPr lang="en-US" altLang="zh-CN" sz="1500" b="1" dirty="0">
                <a:solidFill>
                  <a:srgbClr val="32B2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 2 :</a:t>
            </a:r>
          </a:p>
          <a:p>
            <a:r>
              <a:rPr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Decentralization of the host region</a:t>
            </a:r>
          </a:p>
          <a:p>
            <a:r>
              <a:rPr lang="en-US" altLang="zh-CN" sz="1500" b="1" dirty="0">
                <a:solidFill>
                  <a:srgbClr val="32B2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 3 :</a:t>
            </a:r>
          </a:p>
          <a:p>
            <a:r>
              <a:rPr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permanent location for the Summer and one for the Winter Olympic</a:t>
            </a:r>
          </a:p>
          <a:p>
            <a:r>
              <a:rPr lang="en-US" altLang="zh-CN" sz="1500" b="1" dirty="0">
                <a:solidFill>
                  <a:srgbClr val="32B2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 4 :</a:t>
            </a:r>
          </a:p>
          <a:p>
            <a:r>
              <a:rPr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Holding four small-scale Olympics</a:t>
            </a:r>
            <a:endParaRPr lang="zh-CN" alt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箭头: 右 39">
            <a:extLst>
              <a:ext uri="{FF2B5EF4-FFF2-40B4-BE49-F238E27FC236}">
                <a16:creationId xmlns:a16="http://schemas.microsoft.com/office/drawing/2014/main" id="{4B2D0CD1-40B5-47FB-8048-A23E9C8F183A}"/>
              </a:ext>
            </a:extLst>
          </p:cNvPr>
          <p:cNvSpPr/>
          <p:nvPr/>
        </p:nvSpPr>
        <p:spPr>
          <a:xfrm>
            <a:off x="6465894" y="4798493"/>
            <a:ext cx="1485900" cy="388620"/>
          </a:xfrm>
          <a:prstGeom prst="rightArrow">
            <a:avLst/>
          </a:prstGeom>
          <a:solidFill>
            <a:schemeClr val="bg1"/>
          </a:solidFill>
          <a:ln w="19050">
            <a:solidFill>
              <a:srgbClr val="32B2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箭头: 右 40">
            <a:extLst>
              <a:ext uri="{FF2B5EF4-FFF2-40B4-BE49-F238E27FC236}">
                <a16:creationId xmlns:a16="http://schemas.microsoft.com/office/drawing/2014/main" id="{E56DCF09-7ED4-4D15-889D-184EC502995D}"/>
              </a:ext>
            </a:extLst>
          </p:cNvPr>
          <p:cNvSpPr/>
          <p:nvPr/>
        </p:nvSpPr>
        <p:spPr>
          <a:xfrm>
            <a:off x="7106485" y="1863846"/>
            <a:ext cx="1485900" cy="340464"/>
          </a:xfrm>
          <a:prstGeom prst="rightArrow">
            <a:avLst/>
          </a:prstGeom>
          <a:solidFill>
            <a:srgbClr val="32B25C"/>
          </a:solidFill>
          <a:ln w="19050">
            <a:solidFill>
              <a:srgbClr val="32B2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9F4ACA42-835F-455B-AB66-3E08E7CEE3A7}"/>
              </a:ext>
            </a:extLst>
          </p:cNvPr>
          <p:cNvSpPr/>
          <p:nvPr/>
        </p:nvSpPr>
        <p:spPr>
          <a:xfrm>
            <a:off x="7922089" y="3437192"/>
            <a:ext cx="3534581" cy="3084070"/>
          </a:xfrm>
          <a:prstGeom prst="roundRect">
            <a:avLst>
              <a:gd name="adj" fmla="val 8753"/>
            </a:avLst>
          </a:prstGeom>
          <a:noFill/>
          <a:ln w="19050">
            <a:solidFill>
              <a:srgbClr val="B6B3B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8C7DDD39-F14F-443D-A3D8-A1CF2D4D8055}"/>
              </a:ext>
            </a:extLst>
          </p:cNvPr>
          <p:cNvSpPr/>
          <p:nvPr/>
        </p:nvSpPr>
        <p:spPr>
          <a:xfrm>
            <a:off x="8335212" y="3552953"/>
            <a:ext cx="2995334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Sore analysis of the strategies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98F48B1-51AF-4DC8-8723-7828FC21234F}"/>
              </a:ext>
            </a:extLst>
          </p:cNvPr>
          <p:cNvSpPr txBox="1"/>
          <p:nvPr/>
        </p:nvSpPr>
        <p:spPr>
          <a:xfrm>
            <a:off x="8694192" y="4093875"/>
            <a:ext cx="23098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32B2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Gray Prediction Model</a:t>
            </a:r>
            <a:endParaRPr lang="zh-CN" altLang="en-US" sz="1600" b="1" dirty="0">
              <a:solidFill>
                <a:srgbClr val="32B2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7336F813-D94F-48A8-9473-076F1FD26FA6}"/>
              </a:ext>
            </a:extLst>
          </p:cNvPr>
          <p:cNvCxnSpPr>
            <a:cxnSpLocks/>
          </p:cNvCxnSpPr>
          <p:nvPr/>
        </p:nvCxnSpPr>
        <p:spPr>
          <a:xfrm>
            <a:off x="11117749" y="3971545"/>
            <a:ext cx="0" cy="388523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639A1708-79C4-4E47-B1CC-92593D5F6F64}"/>
              </a:ext>
            </a:extLst>
          </p:cNvPr>
          <p:cNvSpPr/>
          <p:nvPr/>
        </p:nvSpPr>
        <p:spPr>
          <a:xfrm>
            <a:off x="8125015" y="4554599"/>
            <a:ext cx="2773597" cy="446941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 1:Social,OFI</a:t>
            </a:r>
            <a:endParaRPr lang="zh-CN" altLang="en-US"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25642F73-07AC-484A-884C-C9F575E5AD1C}"/>
              </a:ext>
            </a:extLst>
          </p:cNvPr>
          <p:cNvSpPr/>
          <p:nvPr/>
        </p:nvSpPr>
        <p:spPr>
          <a:xfrm>
            <a:off x="8112253" y="5001781"/>
            <a:ext cx="2773597" cy="428207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 2:All</a:t>
            </a:r>
            <a:endParaRPr lang="zh-CN" altLang="en-US"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4290D522-5AD4-4AB9-A62C-C837FAD57529}"/>
              </a:ext>
            </a:extLst>
          </p:cNvPr>
          <p:cNvSpPr/>
          <p:nvPr/>
        </p:nvSpPr>
        <p:spPr>
          <a:xfrm>
            <a:off x="8108684" y="5430229"/>
            <a:ext cx="2773597" cy="428207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 3:Economy,</a:t>
            </a:r>
          </a:p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Environment, OFI</a:t>
            </a:r>
            <a:endParaRPr lang="zh-CN" altLang="en-US"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B081F0FC-0829-4996-A462-6A0BC837E2C1}"/>
              </a:ext>
            </a:extLst>
          </p:cNvPr>
          <p:cNvSpPr/>
          <p:nvPr/>
        </p:nvSpPr>
        <p:spPr>
          <a:xfrm>
            <a:off x="8108684" y="5858677"/>
            <a:ext cx="2773597" cy="428207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 4:Society, Politics</a:t>
            </a:r>
            <a:endParaRPr lang="zh-CN" altLang="en-US"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箭头: 右 52">
            <a:extLst>
              <a:ext uri="{FF2B5EF4-FFF2-40B4-BE49-F238E27FC236}">
                <a16:creationId xmlns:a16="http://schemas.microsoft.com/office/drawing/2014/main" id="{2B3FBB25-F1E3-43EB-A22C-F53B904F9CD5}"/>
              </a:ext>
            </a:extLst>
          </p:cNvPr>
          <p:cNvSpPr/>
          <p:nvPr/>
        </p:nvSpPr>
        <p:spPr>
          <a:xfrm rot="16200000">
            <a:off x="10306386" y="5365962"/>
            <a:ext cx="1699648" cy="76921"/>
          </a:xfrm>
          <a:prstGeom prst="rightArrow">
            <a:avLst/>
          </a:prstGeom>
          <a:solidFill>
            <a:srgbClr val="32B25C"/>
          </a:solidFill>
          <a:ln w="19050">
            <a:solidFill>
              <a:srgbClr val="32B2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对话气泡: 椭圆形 41">
            <a:extLst>
              <a:ext uri="{FF2B5EF4-FFF2-40B4-BE49-F238E27FC236}">
                <a16:creationId xmlns:a16="http://schemas.microsoft.com/office/drawing/2014/main" id="{6E4E8CC5-E13E-4BC8-811C-7E9F1E594103}"/>
              </a:ext>
            </a:extLst>
          </p:cNvPr>
          <p:cNvSpPr/>
          <p:nvPr/>
        </p:nvSpPr>
        <p:spPr>
          <a:xfrm>
            <a:off x="6236365" y="3281799"/>
            <a:ext cx="1662864" cy="812076"/>
          </a:xfrm>
          <a:prstGeom prst="wedgeEllipseCallout">
            <a:avLst>
              <a:gd name="adj1" fmla="val -57940"/>
              <a:gd name="adj2" fmla="val 50909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32B25C"/>
              </a:gs>
            </a:gsLst>
            <a:lin ang="16200000" scaled="1"/>
            <a:tileRect/>
          </a:gra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Strategies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5819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 121">
            <a:extLst>
              <a:ext uri="{FF2B5EF4-FFF2-40B4-BE49-F238E27FC236}">
                <a16:creationId xmlns:a16="http://schemas.microsoft.com/office/drawing/2014/main" id="{2677CEBE-88D6-4136-8681-34504D5A7569}"/>
              </a:ext>
            </a:extLst>
          </p:cNvPr>
          <p:cNvSpPr/>
          <p:nvPr/>
        </p:nvSpPr>
        <p:spPr>
          <a:xfrm>
            <a:off x="8109585" y="3939429"/>
            <a:ext cx="4044200" cy="2440215"/>
          </a:xfrm>
          <a:prstGeom prst="rect">
            <a:avLst/>
          </a:prstGeom>
          <a:solidFill>
            <a:srgbClr val="F0F8ED"/>
          </a:solidFill>
          <a:ln w="28575">
            <a:solidFill>
              <a:srgbClr val="5F8D5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72F7AF64-906A-42F6-B5BC-1D757503AD32}"/>
              </a:ext>
            </a:extLst>
          </p:cNvPr>
          <p:cNvSpPr/>
          <p:nvPr/>
        </p:nvSpPr>
        <p:spPr>
          <a:xfrm>
            <a:off x="8110854" y="942716"/>
            <a:ext cx="4051325" cy="2113734"/>
          </a:xfrm>
          <a:prstGeom prst="rect">
            <a:avLst/>
          </a:prstGeom>
          <a:solidFill>
            <a:srgbClr val="F4EEFA"/>
          </a:solidFill>
          <a:ln w="28575">
            <a:solidFill>
              <a:srgbClr val="5F8D5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4BFA7981-104C-4F52-8798-C1695CBE3851}"/>
              </a:ext>
            </a:extLst>
          </p:cNvPr>
          <p:cNvSpPr/>
          <p:nvPr/>
        </p:nvSpPr>
        <p:spPr>
          <a:xfrm>
            <a:off x="3310773" y="3930224"/>
            <a:ext cx="4556744" cy="2421247"/>
          </a:xfrm>
          <a:prstGeom prst="rect">
            <a:avLst/>
          </a:prstGeom>
          <a:solidFill>
            <a:srgbClr val="EEF5FB"/>
          </a:solidFill>
          <a:ln w="28575">
            <a:solidFill>
              <a:srgbClr val="5F8D5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E5A3F14-B3C6-4BE6-B9D6-7585044C3D28}"/>
              </a:ext>
            </a:extLst>
          </p:cNvPr>
          <p:cNvSpPr/>
          <p:nvPr/>
        </p:nvSpPr>
        <p:spPr>
          <a:xfrm>
            <a:off x="3310757" y="949500"/>
            <a:ext cx="4556760" cy="2106950"/>
          </a:xfrm>
          <a:prstGeom prst="rect">
            <a:avLst/>
          </a:prstGeom>
          <a:solidFill>
            <a:srgbClr val="FDEDED"/>
          </a:solidFill>
          <a:ln w="28575">
            <a:solidFill>
              <a:srgbClr val="5F8D5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E965528-6915-4199-92DF-CC426D4A0E73}"/>
              </a:ext>
            </a:extLst>
          </p:cNvPr>
          <p:cNvSpPr/>
          <p:nvPr/>
        </p:nvSpPr>
        <p:spPr>
          <a:xfrm>
            <a:off x="367862" y="926897"/>
            <a:ext cx="2720385" cy="5431862"/>
          </a:xfrm>
          <a:prstGeom prst="rect">
            <a:avLst/>
          </a:prstGeom>
          <a:solidFill>
            <a:srgbClr val="FFFAE7"/>
          </a:solidFill>
          <a:ln w="28575">
            <a:solidFill>
              <a:srgbClr val="0066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C3F4739-8D24-4F24-81D4-527B3BA66C0C}"/>
              </a:ext>
            </a:extLst>
          </p:cNvPr>
          <p:cNvSpPr txBox="1"/>
          <p:nvPr/>
        </p:nvSpPr>
        <p:spPr>
          <a:xfrm>
            <a:off x="281985" y="588343"/>
            <a:ext cx="28062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Prediction Model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B7B6E77-931D-4F54-9EB4-5467F6B15A9B}"/>
              </a:ext>
            </a:extLst>
          </p:cNvPr>
          <p:cNvSpPr txBox="1"/>
          <p:nvPr/>
        </p:nvSpPr>
        <p:spPr>
          <a:xfrm>
            <a:off x="3224880" y="648513"/>
            <a:ext cx="5819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of Word Attributes and Scores from Percentage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1F57938-428B-420F-9251-867A88421DFD}"/>
              </a:ext>
            </a:extLst>
          </p:cNvPr>
          <p:cNvSpPr txBox="1"/>
          <p:nvPr/>
        </p:nvSpPr>
        <p:spPr>
          <a:xfrm>
            <a:off x="8031628" y="676916"/>
            <a:ext cx="22983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Interesting Features of  Data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83044AB-8745-4A6B-B4CD-B3FD0D846A46}"/>
              </a:ext>
            </a:extLst>
          </p:cNvPr>
          <p:cNvSpPr/>
          <p:nvPr/>
        </p:nvSpPr>
        <p:spPr>
          <a:xfrm>
            <a:off x="1288876" y="1202295"/>
            <a:ext cx="792480" cy="390144"/>
          </a:xfrm>
          <a:prstGeom prst="rect">
            <a:avLst/>
          </a:prstGeom>
          <a:solidFill>
            <a:srgbClr val="CFB3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84F551B-3C70-4233-B80D-E5844A99CD89}"/>
              </a:ext>
            </a:extLst>
          </p:cNvPr>
          <p:cNvCxnSpPr/>
          <p:nvPr/>
        </p:nvCxnSpPr>
        <p:spPr>
          <a:xfrm>
            <a:off x="1685116" y="1592439"/>
            <a:ext cx="0" cy="4446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D7A8909C-5F76-4429-9EEF-621FEB8003DB}"/>
              </a:ext>
            </a:extLst>
          </p:cNvPr>
          <p:cNvSpPr/>
          <p:nvPr/>
        </p:nvSpPr>
        <p:spPr>
          <a:xfrm>
            <a:off x="935573" y="2037080"/>
            <a:ext cx="1477401" cy="1026160"/>
          </a:xfrm>
          <a:prstGeom prst="rect">
            <a:avLst/>
          </a:prstGeom>
          <a:solidFill>
            <a:srgbClr val="ADD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model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箭头: 左弧形 12">
            <a:extLst>
              <a:ext uri="{FF2B5EF4-FFF2-40B4-BE49-F238E27FC236}">
                <a16:creationId xmlns:a16="http://schemas.microsoft.com/office/drawing/2014/main" id="{06911577-3617-4705-BB37-0C5E6154C4F0}"/>
              </a:ext>
            </a:extLst>
          </p:cNvPr>
          <p:cNvSpPr/>
          <p:nvPr/>
        </p:nvSpPr>
        <p:spPr>
          <a:xfrm>
            <a:off x="772160" y="2306320"/>
            <a:ext cx="163413" cy="609600"/>
          </a:xfrm>
          <a:prstGeom prst="curved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箭头: 左弧形 13">
            <a:extLst>
              <a:ext uri="{FF2B5EF4-FFF2-40B4-BE49-F238E27FC236}">
                <a16:creationId xmlns:a16="http://schemas.microsoft.com/office/drawing/2014/main" id="{155CD1EE-B982-45EB-95B8-B75FA96460D7}"/>
              </a:ext>
            </a:extLst>
          </p:cNvPr>
          <p:cNvSpPr/>
          <p:nvPr/>
        </p:nvSpPr>
        <p:spPr>
          <a:xfrm flipH="1">
            <a:off x="2412974" y="2306320"/>
            <a:ext cx="163413" cy="609600"/>
          </a:xfrm>
          <a:prstGeom prst="curved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E7619DA-8F80-40FA-8540-01B1C55A02ED}"/>
              </a:ext>
            </a:extLst>
          </p:cNvPr>
          <p:cNvSpPr txBox="1"/>
          <p:nvPr/>
        </p:nvSpPr>
        <p:spPr>
          <a:xfrm>
            <a:off x="414448" y="2150050"/>
            <a:ext cx="6146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Reset</a:t>
            </a: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DD02214-6763-4B9C-B03C-03D7BE5F2B77}"/>
              </a:ext>
            </a:extLst>
          </p:cNvPr>
          <p:cNvSpPr txBox="1"/>
          <p:nvPr/>
        </p:nvSpPr>
        <p:spPr>
          <a:xfrm>
            <a:off x="2520156" y="2159000"/>
            <a:ext cx="6146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gate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AF59277D-F6B7-42FF-BC57-8CE5E109F95A}"/>
              </a:ext>
            </a:extLst>
          </p:cNvPr>
          <p:cNvCxnSpPr/>
          <p:nvPr/>
        </p:nvCxnSpPr>
        <p:spPr>
          <a:xfrm>
            <a:off x="1685116" y="3063240"/>
            <a:ext cx="0" cy="4446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803E484B-B1C9-4587-80F7-B85252AD2832}"/>
              </a:ext>
            </a:extLst>
          </p:cNvPr>
          <p:cNvSpPr/>
          <p:nvPr/>
        </p:nvSpPr>
        <p:spPr>
          <a:xfrm>
            <a:off x="1278033" y="3528387"/>
            <a:ext cx="792480" cy="390144"/>
          </a:xfrm>
          <a:prstGeom prst="rect">
            <a:avLst/>
          </a:prstGeom>
          <a:solidFill>
            <a:srgbClr val="CFB3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E5787EE0-34E0-4982-AFA1-5C4496FDA0FA}"/>
              </a:ext>
            </a:extLst>
          </p:cNvPr>
          <p:cNvCxnSpPr>
            <a:cxnSpLocks/>
          </p:cNvCxnSpPr>
          <p:nvPr/>
        </p:nvCxnSpPr>
        <p:spPr>
          <a:xfrm>
            <a:off x="1670797" y="3918531"/>
            <a:ext cx="0" cy="76319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9C3112AC-D2DD-4240-88E8-F944F86A5892}"/>
              </a:ext>
            </a:extLst>
          </p:cNvPr>
          <p:cNvSpPr/>
          <p:nvPr/>
        </p:nvSpPr>
        <p:spPr>
          <a:xfrm>
            <a:off x="1075376" y="4681728"/>
            <a:ext cx="1190841" cy="390144"/>
          </a:xfrm>
          <a:prstGeom prst="rect">
            <a:avLst/>
          </a:prstGeom>
          <a:solidFill>
            <a:srgbClr val="CFB3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D4D1B044-77E9-4AE0-8D96-2D0B498A880B}"/>
              </a:ext>
            </a:extLst>
          </p:cNvPr>
          <p:cNvCxnSpPr>
            <a:cxnSpLocks/>
          </p:cNvCxnSpPr>
          <p:nvPr/>
        </p:nvCxnSpPr>
        <p:spPr>
          <a:xfrm>
            <a:off x="1670796" y="5071872"/>
            <a:ext cx="0" cy="749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FDB1E97D-3582-4134-AB0F-4BEE751353F7}"/>
              </a:ext>
            </a:extLst>
          </p:cNvPr>
          <p:cNvSpPr/>
          <p:nvPr/>
        </p:nvSpPr>
        <p:spPr>
          <a:xfrm>
            <a:off x="843881" y="5793166"/>
            <a:ext cx="1676263" cy="418658"/>
          </a:xfrm>
          <a:prstGeom prst="rect">
            <a:avLst/>
          </a:prstGeom>
          <a:solidFill>
            <a:srgbClr val="E18A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March 1,2023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5D6EAFB2-15B3-4D90-AED3-897B5590DF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6315402"/>
              </p:ext>
            </p:extLst>
          </p:nvPr>
        </p:nvGraphicFramePr>
        <p:xfrm>
          <a:off x="4831284" y="956290"/>
          <a:ext cx="1457307" cy="3757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9" name="AxMath" r:id="rId3" imgW="1878120" imgH="484920" progId="Equation.AxMath">
                  <p:embed/>
                </p:oleObj>
              </mc:Choice>
              <mc:Fallback>
                <p:oleObj name="AxMath" r:id="rId3" imgW="1878120" imgH="484920" progId="Equation.AxMat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31284" y="956290"/>
                        <a:ext cx="1457307" cy="3757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6B1C479E-7E60-4C5B-A717-12D98CF0F808}"/>
              </a:ext>
            </a:extLst>
          </p:cNvPr>
          <p:cNvCxnSpPr/>
          <p:nvPr/>
        </p:nvCxnSpPr>
        <p:spPr>
          <a:xfrm>
            <a:off x="3310757" y="1332012"/>
            <a:ext cx="4556760" cy="0"/>
          </a:xfrm>
          <a:prstGeom prst="line">
            <a:avLst/>
          </a:prstGeom>
          <a:ln w="19050">
            <a:solidFill>
              <a:srgbClr val="F6B8B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AB5DF09C-ABB2-4C5B-BA52-569BCE564811}"/>
              </a:ext>
            </a:extLst>
          </p:cNvPr>
          <p:cNvCxnSpPr>
            <a:cxnSpLocks/>
          </p:cNvCxnSpPr>
          <p:nvPr/>
        </p:nvCxnSpPr>
        <p:spPr>
          <a:xfrm>
            <a:off x="5589137" y="1332012"/>
            <a:ext cx="0" cy="1724438"/>
          </a:xfrm>
          <a:prstGeom prst="line">
            <a:avLst/>
          </a:prstGeom>
          <a:ln w="19050">
            <a:solidFill>
              <a:srgbClr val="F6B8B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FEF020CA-E724-43BD-8C55-5BFB895DC53E}"/>
              </a:ext>
            </a:extLst>
          </p:cNvPr>
          <p:cNvSpPr txBox="1"/>
          <p:nvPr/>
        </p:nvSpPr>
        <p:spPr>
          <a:xfrm>
            <a:off x="3723784" y="1311560"/>
            <a:ext cx="14523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Analysis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2DC2843-0E7A-4010-9F45-001CA007A559}"/>
              </a:ext>
            </a:extLst>
          </p:cNvPr>
          <p:cNvSpPr txBox="1"/>
          <p:nvPr/>
        </p:nvSpPr>
        <p:spPr>
          <a:xfrm>
            <a:off x="3398610" y="1509889"/>
            <a:ext cx="10501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Frequency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273ECAC-D526-4A4F-B1FC-7FB8CBF99023}"/>
              </a:ext>
            </a:extLst>
          </p:cNvPr>
          <p:cNvSpPr txBox="1"/>
          <p:nvPr/>
        </p:nvSpPr>
        <p:spPr>
          <a:xfrm>
            <a:off x="4389909" y="1509889"/>
            <a:ext cx="1111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Letter Frequency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6389D27-4E7B-4298-95EE-F754574745F7}"/>
              </a:ext>
            </a:extLst>
          </p:cNvPr>
          <p:cNvSpPr/>
          <p:nvPr/>
        </p:nvSpPr>
        <p:spPr>
          <a:xfrm>
            <a:off x="3687467" y="1772864"/>
            <a:ext cx="472425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60D45E54-7FD8-4E77-8A84-472F7E2474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2026215"/>
              </p:ext>
            </p:extLst>
          </p:nvPr>
        </p:nvGraphicFramePr>
        <p:xfrm>
          <a:off x="3687467" y="1782903"/>
          <a:ext cx="476071" cy="32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" name="AxMath" r:id="rId5" imgW="338760" imgH="228600" progId="Equation.AxMath">
                  <p:embed/>
                </p:oleObj>
              </mc:Choice>
              <mc:Fallback>
                <p:oleObj name="AxMath" r:id="rId5" imgW="338760" imgH="228600" progId="Equation.AxMat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87467" y="1782903"/>
                        <a:ext cx="476071" cy="3218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矩形 36">
            <a:extLst>
              <a:ext uri="{FF2B5EF4-FFF2-40B4-BE49-F238E27FC236}">
                <a16:creationId xmlns:a16="http://schemas.microsoft.com/office/drawing/2014/main" id="{EC9CD946-DBBF-4E52-9654-FBCB2BE2D68A}"/>
              </a:ext>
            </a:extLst>
          </p:cNvPr>
          <p:cNvSpPr/>
          <p:nvPr/>
        </p:nvSpPr>
        <p:spPr>
          <a:xfrm>
            <a:off x="4700039" y="1764159"/>
            <a:ext cx="472425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61709B5C-AF8D-437D-8D28-AA04882B28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755895"/>
              </p:ext>
            </p:extLst>
          </p:nvPr>
        </p:nvGraphicFramePr>
        <p:xfrm>
          <a:off x="4675188" y="1774825"/>
          <a:ext cx="52705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" name="AxMath" r:id="rId7" imgW="375120" imgH="228600" progId="Equation.AxMath">
                  <p:embed/>
                </p:oleObj>
              </mc:Choice>
              <mc:Fallback>
                <p:oleObj name="AxMath" r:id="rId7" imgW="375120" imgH="228600" progId="Equation.AxMath">
                  <p:embed/>
                  <p:pic>
                    <p:nvPicPr>
                      <p:cNvPr id="36" name="对象 35">
                        <a:extLst>
                          <a:ext uri="{FF2B5EF4-FFF2-40B4-BE49-F238E27FC236}">
                            <a16:creationId xmlns:a16="http://schemas.microsoft.com/office/drawing/2014/main" id="{60D45E54-7FD8-4E77-8A84-472F7E2474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75188" y="1774825"/>
                        <a:ext cx="527050" cy="320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BB6571FE-2795-4C93-830B-40EA57140D09}"/>
              </a:ext>
            </a:extLst>
          </p:cNvPr>
          <p:cNvCxnSpPr>
            <a:cxnSpLocks/>
          </p:cNvCxnSpPr>
          <p:nvPr/>
        </p:nvCxnSpPr>
        <p:spPr>
          <a:xfrm>
            <a:off x="3930804" y="2119570"/>
            <a:ext cx="0" cy="3112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98011E60-9D7C-4566-ACDA-77F68161B841}"/>
              </a:ext>
            </a:extLst>
          </p:cNvPr>
          <p:cNvCxnSpPr>
            <a:cxnSpLocks/>
          </p:cNvCxnSpPr>
          <p:nvPr/>
        </p:nvCxnSpPr>
        <p:spPr>
          <a:xfrm>
            <a:off x="6341427" y="2104754"/>
            <a:ext cx="0" cy="118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>
            <a:extLst>
              <a:ext uri="{FF2B5EF4-FFF2-40B4-BE49-F238E27FC236}">
                <a16:creationId xmlns:a16="http://schemas.microsoft.com/office/drawing/2014/main" id="{72AA5EE9-C572-4B12-8479-9D80F445AEBE}"/>
              </a:ext>
            </a:extLst>
          </p:cNvPr>
          <p:cNvSpPr/>
          <p:nvPr/>
        </p:nvSpPr>
        <p:spPr>
          <a:xfrm>
            <a:off x="3694600" y="2424304"/>
            <a:ext cx="1477864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C49E6294-EE38-438A-A5AC-97546FCE5DCC}"/>
              </a:ext>
            </a:extLst>
          </p:cNvPr>
          <p:cNvSpPr txBox="1"/>
          <p:nvPr/>
        </p:nvSpPr>
        <p:spPr>
          <a:xfrm>
            <a:off x="3816490" y="2488009"/>
            <a:ext cx="12198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analysis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2D1510AA-B07B-48F6-B256-4395DF714E47}"/>
              </a:ext>
            </a:extLst>
          </p:cNvPr>
          <p:cNvCxnSpPr>
            <a:cxnSpLocks/>
          </p:cNvCxnSpPr>
          <p:nvPr/>
        </p:nvCxnSpPr>
        <p:spPr>
          <a:xfrm flipH="1">
            <a:off x="3923679" y="2771314"/>
            <a:ext cx="7125" cy="5332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A4781964-0CA7-426C-A83A-9F4E67CE1144}"/>
              </a:ext>
            </a:extLst>
          </p:cNvPr>
          <p:cNvCxnSpPr>
            <a:cxnSpLocks/>
          </p:cNvCxnSpPr>
          <p:nvPr/>
        </p:nvCxnSpPr>
        <p:spPr>
          <a:xfrm flipH="1">
            <a:off x="4929126" y="2774706"/>
            <a:ext cx="7125" cy="5332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AB314CCC-A410-4FA7-AEC7-89409D53BB6F}"/>
              </a:ext>
            </a:extLst>
          </p:cNvPr>
          <p:cNvSpPr txBox="1"/>
          <p:nvPr/>
        </p:nvSpPr>
        <p:spPr>
          <a:xfrm>
            <a:off x="6158226" y="1312759"/>
            <a:ext cx="14523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 Plot Analysis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DF2AB8B1-5396-4615-87F5-0BC3B7D836D2}"/>
              </a:ext>
            </a:extLst>
          </p:cNvPr>
          <p:cNvSpPr txBox="1"/>
          <p:nvPr/>
        </p:nvSpPr>
        <p:spPr>
          <a:xfrm>
            <a:off x="5718343" y="1517938"/>
            <a:ext cx="121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Repetition of Letter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191F1DE3-AE61-496F-A130-6D1AEF6E0B72}"/>
              </a:ext>
            </a:extLst>
          </p:cNvPr>
          <p:cNvSpPr txBox="1"/>
          <p:nvPr/>
        </p:nvSpPr>
        <p:spPr>
          <a:xfrm>
            <a:off x="6884389" y="1517938"/>
            <a:ext cx="1111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of Speech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D3540711-82E4-4132-914F-0C1C6ABADE2A}"/>
              </a:ext>
            </a:extLst>
          </p:cNvPr>
          <p:cNvSpPr/>
          <p:nvPr/>
        </p:nvSpPr>
        <p:spPr>
          <a:xfrm>
            <a:off x="6105215" y="1753570"/>
            <a:ext cx="472425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</a:t>
            </a:r>
            <a:endParaRPr lang="zh-CN" altLang="en-US" sz="14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E97B4058-38FC-4398-9D92-4D83C6B8CCBB}"/>
              </a:ext>
            </a:extLst>
          </p:cNvPr>
          <p:cNvSpPr/>
          <p:nvPr/>
        </p:nvSpPr>
        <p:spPr>
          <a:xfrm>
            <a:off x="7098409" y="1762824"/>
            <a:ext cx="472425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endParaRPr lang="zh-CN" altLang="en-US" sz="14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7C8DDF03-387B-44E4-8BA0-0049507CFB9F}"/>
              </a:ext>
            </a:extLst>
          </p:cNvPr>
          <p:cNvCxnSpPr>
            <a:cxnSpLocks/>
          </p:cNvCxnSpPr>
          <p:nvPr/>
        </p:nvCxnSpPr>
        <p:spPr>
          <a:xfrm>
            <a:off x="7334621" y="2108564"/>
            <a:ext cx="0" cy="118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2D2F930C-485B-40D5-9D8C-87680EF9C558}"/>
              </a:ext>
            </a:extLst>
          </p:cNvPr>
          <p:cNvSpPr/>
          <p:nvPr/>
        </p:nvSpPr>
        <p:spPr>
          <a:xfrm>
            <a:off x="5701798" y="2424304"/>
            <a:ext cx="689258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Box</a:t>
            </a:r>
            <a:r>
              <a:rPr lang="zh-CN" altLang="en-US" sz="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lang="zh-CN" altLang="en-US" sz="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difference</a:t>
            </a:r>
            <a:endParaRPr lang="zh-CN" altLang="en-US" sz="8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D79672C1-186E-4788-B4A8-AEA6F5E79620}"/>
              </a:ext>
            </a:extLst>
          </p:cNvPr>
          <p:cNvSpPr/>
          <p:nvPr/>
        </p:nvSpPr>
        <p:spPr>
          <a:xfrm>
            <a:off x="6453230" y="2424304"/>
            <a:ext cx="689258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difference of outlines</a:t>
            </a:r>
            <a:endParaRPr lang="zh-CN" altLang="en-US" sz="8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2A379255-1AC7-4B75-9DA4-D570CECB8542}"/>
              </a:ext>
            </a:extLst>
          </p:cNvPr>
          <p:cNvSpPr/>
          <p:nvPr/>
        </p:nvSpPr>
        <p:spPr>
          <a:xfrm>
            <a:off x="7171643" y="2424304"/>
            <a:ext cx="621777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Median difference</a:t>
            </a:r>
            <a:endParaRPr lang="zh-CN" altLang="en-US" sz="8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70D04243-B03A-445B-A423-F5F0EA6C4D56}"/>
              </a:ext>
            </a:extLst>
          </p:cNvPr>
          <p:cNvCxnSpPr/>
          <p:nvPr/>
        </p:nvCxnSpPr>
        <p:spPr>
          <a:xfrm flipH="1">
            <a:off x="6209306" y="2159000"/>
            <a:ext cx="92915" cy="265304"/>
          </a:xfrm>
          <a:prstGeom prst="line">
            <a:avLst/>
          </a:prstGeom>
          <a:ln w="19050">
            <a:solidFill>
              <a:srgbClr val="F6B8B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579591B6-4EFF-42AF-9AD5-6191C60043DE}"/>
              </a:ext>
            </a:extLst>
          </p:cNvPr>
          <p:cNvCxnSpPr>
            <a:cxnSpLocks/>
            <a:endCxn id="55" idx="0"/>
          </p:cNvCxnSpPr>
          <p:nvPr/>
        </p:nvCxnSpPr>
        <p:spPr>
          <a:xfrm>
            <a:off x="6377026" y="2111982"/>
            <a:ext cx="420833" cy="312322"/>
          </a:xfrm>
          <a:prstGeom prst="line">
            <a:avLst/>
          </a:prstGeom>
          <a:ln w="19050">
            <a:solidFill>
              <a:srgbClr val="F6B8B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B616C9A2-72CB-48BB-B3BA-6B5A4A012774}"/>
              </a:ext>
            </a:extLst>
          </p:cNvPr>
          <p:cNvCxnSpPr>
            <a:cxnSpLocks/>
          </p:cNvCxnSpPr>
          <p:nvPr/>
        </p:nvCxnSpPr>
        <p:spPr>
          <a:xfrm>
            <a:off x="6384011" y="2117650"/>
            <a:ext cx="937162" cy="288091"/>
          </a:xfrm>
          <a:prstGeom prst="line">
            <a:avLst/>
          </a:prstGeom>
          <a:ln w="19050">
            <a:solidFill>
              <a:srgbClr val="F6B8B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>
            <a:extLst>
              <a:ext uri="{FF2B5EF4-FFF2-40B4-BE49-F238E27FC236}">
                <a16:creationId xmlns:a16="http://schemas.microsoft.com/office/drawing/2014/main" id="{5C1F5825-CFE2-47D6-ABFF-F92920DB92D3}"/>
              </a:ext>
            </a:extLst>
          </p:cNvPr>
          <p:cNvSpPr txBox="1"/>
          <p:nvPr/>
        </p:nvSpPr>
        <p:spPr>
          <a:xfrm>
            <a:off x="3750594" y="3242718"/>
            <a:ext cx="1050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5F8D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7AB8548C-5D6E-468D-ADFC-F199144A7E1D}"/>
              </a:ext>
            </a:extLst>
          </p:cNvPr>
          <p:cNvSpPr txBox="1"/>
          <p:nvPr/>
        </p:nvSpPr>
        <p:spPr>
          <a:xfrm>
            <a:off x="4746207" y="3242718"/>
            <a:ext cx="1050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5F8D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2923094E-B144-4162-892F-1D51C741D6B3}"/>
              </a:ext>
            </a:extLst>
          </p:cNvPr>
          <p:cNvSpPr txBox="1"/>
          <p:nvPr/>
        </p:nvSpPr>
        <p:spPr>
          <a:xfrm>
            <a:off x="6166375" y="3244692"/>
            <a:ext cx="1050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5F8D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8869C1FC-B1B8-43A2-9C73-67098425CCA5}"/>
              </a:ext>
            </a:extLst>
          </p:cNvPr>
          <p:cNvSpPr txBox="1"/>
          <p:nvPr/>
        </p:nvSpPr>
        <p:spPr>
          <a:xfrm>
            <a:off x="7156389" y="3226324"/>
            <a:ext cx="2692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endParaRPr lang="zh-CN" alt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7D37D43C-BFD7-4CA0-B64A-64B63FC59795}"/>
              </a:ext>
            </a:extLst>
          </p:cNvPr>
          <p:cNvCxnSpPr>
            <a:cxnSpLocks/>
          </p:cNvCxnSpPr>
          <p:nvPr/>
        </p:nvCxnSpPr>
        <p:spPr>
          <a:xfrm flipV="1">
            <a:off x="7522536" y="3066198"/>
            <a:ext cx="0" cy="39709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E662BA8D-1B5A-47C3-941B-55080EA35403}"/>
              </a:ext>
            </a:extLst>
          </p:cNvPr>
          <p:cNvCxnSpPr/>
          <p:nvPr/>
        </p:nvCxnSpPr>
        <p:spPr>
          <a:xfrm>
            <a:off x="7522536" y="3450393"/>
            <a:ext cx="42893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2A8506E3-E198-4738-9E31-51FBDD020421}"/>
              </a:ext>
            </a:extLst>
          </p:cNvPr>
          <p:cNvCxnSpPr>
            <a:cxnSpLocks/>
          </p:cNvCxnSpPr>
          <p:nvPr/>
        </p:nvCxnSpPr>
        <p:spPr>
          <a:xfrm>
            <a:off x="7933690" y="1475740"/>
            <a:ext cx="0" cy="19875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DB244D96-1CC2-4B47-A9C0-E546A25CC7BF}"/>
              </a:ext>
            </a:extLst>
          </p:cNvPr>
          <p:cNvCxnSpPr>
            <a:cxnSpLocks/>
          </p:cNvCxnSpPr>
          <p:nvPr/>
        </p:nvCxnSpPr>
        <p:spPr>
          <a:xfrm>
            <a:off x="7920355" y="1481117"/>
            <a:ext cx="1892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文本框 81">
            <a:extLst>
              <a:ext uri="{FF2B5EF4-FFF2-40B4-BE49-F238E27FC236}">
                <a16:creationId xmlns:a16="http://schemas.microsoft.com/office/drawing/2014/main" id="{79D4516A-6DD8-49C0-BD7C-0255DDBEE17F}"/>
              </a:ext>
            </a:extLst>
          </p:cNvPr>
          <p:cNvSpPr txBox="1"/>
          <p:nvPr/>
        </p:nvSpPr>
        <p:spPr>
          <a:xfrm>
            <a:off x="7497600" y="3159116"/>
            <a:ext cx="5015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</a:t>
            </a:r>
            <a:endParaRPr lang="zh-CN" alt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DA2C39B7-C1A2-4B49-BAA9-E53932F83867}"/>
              </a:ext>
            </a:extLst>
          </p:cNvPr>
          <p:cNvSpPr txBox="1"/>
          <p:nvPr/>
        </p:nvSpPr>
        <p:spPr>
          <a:xfrm>
            <a:off x="3216473" y="3616885"/>
            <a:ext cx="761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68F77D1B-F29B-4062-A130-1DA2FD201D6E}"/>
              </a:ext>
            </a:extLst>
          </p:cNvPr>
          <p:cNvSpPr txBox="1"/>
          <p:nvPr/>
        </p:nvSpPr>
        <p:spPr>
          <a:xfrm>
            <a:off x="3902580" y="3623275"/>
            <a:ext cx="137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Pridiction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8ECB17B7-4E49-431D-A5C1-CFF6A5000966}"/>
              </a:ext>
            </a:extLst>
          </p:cNvPr>
          <p:cNvSpPr txBox="1"/>
          <p:nvPr/>
        </p:nvSpPr>
        <p:spPr>
          <a:xfrm>
            <a:off x="4928658" y="3623275"/>
            <a:ext cx="137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EC0D71E5-C0E3-404E-8C8B-698EA0068A51}"/>
              </a:ext>
            </a:extLst>
          </p:cNvPr>
          <p:cNvCxnSpPr>
            <a:cxnSpLocks/>
          </p:cNvCxnSpPr>
          <p:nvPr/>
        </p:nvCxnSpPr>
        <p:spPr>
          <a:xfrm flipH="1">
            <a:off x="3916554" y="3562483"/>
            <a:ext cx="7125" cy="5332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4C780707-4576-42D5-8CCC-60160C1F0DDD}"/>
              </a:ext>
            </a:extLst>
          </p:cNvPr>
          <p:cNvCxnSpPr>
            <a:cxnSpLocks/>
          </p:cNvCxnSpPr>
          <p:nvPr/>
        </p:nvCxnSpPr>
        <p:spPr>
          <a:xfrm flipH="1">
            <a:off x="4929126" y="3562483"/>
            <a:ext cx="7125" cy="5332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02E64633-FF51-40D6-9669-2C252921334F}"/>
              </a:ext>
            </a:extLst>
          </p:cNvPr>
          <p:cNvCxnSpPr>
            <a:cxnSpLocks/>
          </p:cNvCxnSpPr>
          <p:nvPr/>
        </p:nvCxnSpPr>
        <p:spPr>
          <a:xfrm flipH="1">
            <a:off x="6338386" y="3556714"/>
            <a:ext cx="7125" cy="5332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矩形 89">
            <a:extLst>
              <a:ext uri="{FF2B5EF4-FFF2-40B4-BE49-F238E27FC236}">
                <a16:creationId xmlns:a16="http://schemas.microsoft.com/office/drawing/2014/main" id="{FD7A4157-6018-4FBC-A131-D24F03AAA667}"/>
              </a:ext>
            </a:extLst>
          </p:cNvPr>
          <p:cNvSpPr/>
          <p:nvPr/>
        </p:nvSpPr>
        <p:spPr>
          <a:xfrm>
            <a:off x="3453010" y="4046670"/>
            <a:ext cx="4157542" cy="368804"/>
          </a:xfrm>
          <a:prstGeom prst="rect">
            <a:avLst/>
          </a:prstGeom>
          <a:solidFill>
            <a:srgbClr val="C5DC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81CD00F3-E54D-48C0-8B4E-AFB5E76752C8}"/>
              </a:ext>
            </a:extLst>
          </p:cNvPr>
          <p:cNvCxnSpPr>
            <a:cxnSpLocks/>
          </p:cNvCxnSpPr>
          <p:nvPr/>
        </p:nvCxnSpPr>
        <p:spPr>
          <a:xfrm flipH="1">
            <a:off x="4664283" y="4417517"/>
            <a:ext cx="1" cy="112892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任意多边形: 形状 94">
            <a:extLst>
              <a:ext uri="{FF2B5EF4-FFF2-40B4-BE49-F238E27FC236}">
                <a16:creationId xmlns:a16="http://schemas.microsoft.com/office/drawing/2014/main" id="{1016236F-F3BE-4D2D-9B77-74787190E63C}"/>
              </a:ext>
            </a:extLst>
          </p:cNvPr>
          <p:cNvSpPr/>
          <p:nvPr/>
        </p:nvSpPr>
        <p:spPr>
          <a:xfrm>
            <a:off x="4541520" y="5000625"/>
            <a:ext cx="121920" cy="89535"/>
          </a:xfrm>
          <a:custGeom>
            <a:avLst/>
            <a:gdLst>
              <a:gd name="connsiteX0" fmla="*/ 0 w 121920"/>
              <a:gd name="connsiteY0" fmla="*/ 0 h 89535"/>
              <a:gd name="connsiteX1" fmla="*/ 121920 w 121920"/>
              <a:gd name="connsiteY1" fmla="*/ 89535 h 89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20" h="89535">
                <a:moveTo>
                  <a:pt x="0" y="0"/>
                </a:moveTo>
                <a:cubicBezTo>
                  <a:pt x="51117" y="27464"/>
                  <a:pt x="102235" y="54928"/>
                  <a:pt x="121920" y="89535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2BAA08D1-5B87-429A-8EB5-10236C487389}"/>
              </a:ext>
            </a:extLst>
          </p:cNvPr>
          <p:cNvSpPr/>
          <p:nvPr/>
        </p:nvSpPr>
        <p:spPr>
          <a:xfrm>
            <a:off x="3453010" y="4548271"/>
            <a:ext cx="1088510" cy="872104"/>
          </a:xfrm>
          <a:prstGeom prst="rect">
            <a:avLst/>
          </a:prstGeom>
          <a:solidFill>
            <a:srgbClr val="C5DC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Grid Search</a:t>
            </a:r>
          </a:p>
          <a:p>
            <a:pPr algn="ctr"/>
            <a:endParaRPr lang="en-US" altLang="zh-C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</a:t>
            </a:r>
            <a:r>
              <a:rPr lang="en-US" altLang="zh-CN" sz="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gparams</a:t>
            </a:r>
            <a:endParaRPr lang="zh-CN" alt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44165ED3-2CA1-4C75-977F-37D665305E1D}"/>
              </a:ext>
            </a:extLst>
          </p:cNvPr>
          <p:cNvSpPr/>
          <p:nvPr/>
        </p:nvSpPr>
        <p:spPr>
          <a:xfrm>
            <a:off x="4944751" y="4624456"/>
            <a:ext cx="1676263" cy="418658"/>
          </a:xfrm>
          <a:prstGeom prst="rect">
            <a:avLst/>
          </a:prstGeom>
          <a:solidFill>
            <a:srgbClr val="E18A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March 1,2023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2E94831F-2609-4B2D-A348-72F0A0D0C096}"/>
              </a:ext>
            </a:extLst>
          </p:cNvPr>
          <p:cNvSpPr/>
          <p:nvPr/>
        </p:nvSpPr>
        <p:spPr>
          <a:xfrm>
            <a:off x="4943907" y="5042767"/>
            <a:ext cx="1676263" cy="418658"/>
          </a:xfrm>
          <a:prstGeom prst="rect">
            <a:avLst/>
          </a:prstGeom>
          <a:solidFill>
            <a:srgbClr val="ADD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EERIE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B2F3E6A9-1B68-4A6F-AC54-70582C9F8240}"/>
              </a:ext>
            </a:extLst>
          </p:cNvPr>
          <p:cNvSpPr/>
          <p:nvPr/>
        </p:nvSpPr>
        <p:spPr>
          <a:xfrm>
            <a:off x="6691445" y="4833785"/>
            <a:ext cx="1016047" cy="368801"/>
          </a:xfrm>
          <a:prstGeom prst="rect">
            <a:avLst/>
          </a:prstGeom>
          <a:solidFill>
            <a:srgbClr val="C5DC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predicion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635352A1-C0C4-4C3F-9BC4-ED4D89CDC8CE}"/>
              </a:ext>
            </a:extLst>
          </p:cNvPr>
          <p:cNvSpPr/>
          <p:nvPr/>
        </p:nvSpPr>
        <p:spPr>
          <a:xfrm>
            <a:off x="6749974" y="5650778"/>
            <a:ext cx="874171" cy="455369"/>
          </a:xfrm>
          <a:prstGeom prst="rect">
            <a:avLst/>
          </a:prstGeom>
          <a:solidFill>
            <a:srgbClr val="C5DC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72E22CEC-21EA-47E0-B48D-FC42963E7B62}"/>
              </a:ext>
            </a:extLst>
          </p:cNvPr>
          <p:cNvSpPr/>
          <p:nvPr/>
        </p:nvSpPr>
        <p:spPr>
          <a:xfrm>
            <a:off x="3447078" y="5626095"/>
            <a:ext cx="1583296" cy="540665"/>
          </a:xfrm>
          <a:prstGeom prst="rect">
            <a:avLst/>
          </a:prstGeom>
          <a:solidFill>
            <a:srgbClr val="2B76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endParaRPr lang="zh-CN" alt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76A057F9-4FA4-4FBC-9C94-C1BE405046E8}"/>
              </a:ext>
            </a:extLst>
          </p:cNvPr>
          <p:cNvCxnSpPr>
            <a:cxnSpLocks/>
            <a:endCxn id="99" idx="1"/>
          </p:cNvCxnSpPr>
          <p:nvPr/>
        </p:nvCxnSpPr>
        <p:spPr>
          <a:xfrm flipV="1">
            <a:off x="5025883" y="5878463"/>
            <a:ext cx="1724091" cy="806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0A37514A-F87C-4682-8B3A-BCDD05F4F9BB}"/>
              </a:ext>
            </a:extLst>
          </p:cNvPr>
          <p:cNvCxnSpPr>
            <a:cxnSpLocks/>
            <a:stCxn id="99" idx="0"/>
          </p:cNvCxnSpPr>
          <p:nvPr/>
        </p:nvCxnSpPr>
        <p:spPr>
          <a:xfrm flipV="1">
            <a:off x="7187060" y="5227269"/>
            <a:ext cx="12408" cy="4235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D1EEFE42-AFB7-4C8F-9E4A-E771CCEFF1BD}"/>
              </a:ext>
            </a:extLst>
          </p:cNvPr>
          <p:cNvCxnSpPr>
            <a:cxnSpLocks/>
            <a:stCxn id="98" idx="3"/>
          </p:cNvCxnSpPr>
          <p:nvPr/>
        </p:nvCxnSpPr>
        <p:spPr>
          <a:xfrm flipV="1">
            <a:off x="7707492" y="5018185"/>
            <a:ext cx="382551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矩形 109">
            <a:extLst>
              <a:ext uri="{FF2B5EF4-FFF2-40B4-BE49-F238E27FC236}">
                <a16:creationId xmlns:a16="http://schemas.microsoft.com/office/drawing/2014/main" id="{663280FD-A68B-48AB-BEFA-B0BA6D7AB96D}"/>
              </a:ext>
            </a:extLst>
          </p:cNvPr>
          <p:cNvSpPr/>
          <p:nvPr/>
        </p:nvSpPr>
        <p:spPr>
          <a:xfrm>
            <a:off x="8367533" y="1353368"/>
            <a:ext cx="897668" cy="470382"/>
          </a:xfrm>
          <a:prstGeom prst="rect">
            <a:avLst/>
          </a:prstGeom>
          <a:solidFill>
            <a:srgbClr val="DFC9EF"/>
          </a:solidFill>
          <a:ln>
            <a:solidFill>
              <a:srgbClr val="DFC9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 Attributes</a:t>
            </a:r>
            <a:endParaRPr lang="zh-CN" altLang="en-US" sz="11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81855B95-D2F3-4144-8821-EB78F17D9251}"/>
              </a:ext>
            </a:extLst>
          </p:cNvPr>
          <p:cNvCxnSpPr>
            <a:cxnSpLocks/>
          </p:cNvCxnSpPr>
          <p:nvPr/>
        </p:nvCxnSpPr>
        <p:spPr>
          <a:xfrm>
            <a:off x="9279819" y="1586015"/>
            <a:ext cx="29344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矩形 112">
            <a:extLst>
              <a:ext uri="{FF2B5EF4-FFF2-40B4-BE49-F238E27FC236}">
                <a16:creationId xmlns:a16="http://schemas.microsoft.com/office/drawing/2014/main" id="{09841377-3A19-4045-9817-E14312D58727}"/>
              </a:ext>
            </a:extLst>
          </p:cNvPr>
          <p:cNvSpPr/>
          <p:nvPr/>
        </p:nvSpPr>
        <p:spPr>
          <a:xfrm>
            <a:off x="9527731" y="1222733"/>
            <a:ext cx="1236332" cy="279032"/>
          </a:xfrm>
          <a:prstGeom prst="rect">
            <a:avLst/>
          </a:prstGeom>
          <a:solidFill>
            <a:srgbClr val="712CA1"/>
          </a:solidFill>
          <a:ln>
            <a:solidFill>
              <a:srgbClr val="712C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linearly related</a:t>
            </a:r>
            <a:endParaRPr lang="zh-CN" altLang="en-US" sz="10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E9748839-A976-4F32-8BCB-2CE78844F561}"/>
              </a:ext>
            </a:extLst>
          </p:cNvPr>
          <p:cNvSpPr/>
          <p:nvPr/>
        </p:nvSpPr>
        <p:spPr>
          <a:xfrm>
            <a:off x="9548088" y="1684234"/>
            <a:ext cx="1236332" cy="279032"/>
          </a:xfrm>
          <a:prstGeom prst="rect">
            <a:avLst/>
          </a:prstGeom>
          <a:solidFill>
            <a:srgbClr val="712CA1"/>
          </a:solidFill>
          <a:ln>
            <a:solidFill>
              <a:srgbClr val="712C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obvious diff</a:t>
            </a:r>
            <a:endParaRPr lang="zh-CN" altLang="en-US" sz="10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CA97D725-89A0-4530-8E7D-4F2EFFEFE0B7}"/>
              </a:ext>
            </a:extLst>
          </p:cNvPr>
          <p:cNvCxnSpPr>
            <a:cxnSpLocks/>
          </p:cNvCxnSpPr>
          <p:nvPr/>
        </p:nvCxnSpPr>
        <p:spPr>
          <a:xfrm flipH="1">
            <a:off x="10689519" y="1592439"/>
            <a:ext cx="29344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矩形 115">
            <a:extLst>
              <a:ext uri="{FF2B5EF4-FFF2-40B4-BE49-F238E27FC236}">
                <a16:creationId xmlns:a16="http://schemas.microsoft.com/office/drawing/2014/main" id="{EA9E70C5-9203-4543-8277-0EFB6E6BCDB0}"/>
              </a:ext>
            </a:extLst>
          </p:cNvPr>
          <p:cNvSpPr/>
          <p:nvPr/>
        </p:nvSpPr>
        <p:spPr>
          <a:xfrm>
            <a:off x="10982960" y="1312520"/>
            <a:ext cx="897668" cy="511219"/>
          </a:xfrm>
          <a:prstGeom prst="rect">
            <a:avLst/>
          </a:prstGeom>
          <a:solidFill>
            <a:srgbClr val="DFC9EF"/>
          </a:solidFill>
          <a:ln>
            <a:solidFill>
              <a:srgbClr val="DFC9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 Mode </a:t>
            </a:r>
            <a:r>
              <a:rPr lang="en-US" altLang="zh-CN" sz="11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Pecentage</a:t>
            </a:r>
            <a:endParaRPr lang="zh-CN" altLang="en-US" sz="11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B35C4ABE-9CA1-4961-919F-76BF2B03F08E}"/>
              </a:ext>
            </a:extLst>
          </p:cNvPr>
          <p:cNvSpPr/>
          <p:nvPr/>
        </p:nvSpPr>
        <p:spPr>
          <a:xfrm>
            <a:off x="8375025" y="2285268"/>
            <a:ext cx="1962393" cy="368494"/>
          </a:xfrm>
          <a:prstGeom prst="rect">
            <a:avLst/>
          </a:prstGeom>
          <a:solidFill>
            <a:srgbClr val="DFC9EF"/>
          </a:solidFill>
          <a:ln>
            <a:solidFill>
              <a:srgbClr val="DFC9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most “</a:t>
            </a:r>
            <a:r>
              <a:rPr lang="en-US" altLang="zh-CN" sz="10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hellsh</a:t>
            </a:r>
            <a:r>
              <a:rPr lang="en-US" altLang="zh-CN" sz="1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altLang="zh-CN" sz="10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level:PAPER</a:t>
            </a:r>
            <a:endParaRPr lang="zh-CN" altLang="en-US" sz="10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BE90F438-4882-4CA6-B47E-066CC44B860B}"/>
              </a:ext>
            </a:extLst>
          </p:cNvPr>
          <p:cNvCxnSpPr>
            <a:cxnSpLocks/>
          </p:cNvCxnSpPr>
          <p:nvPr/>
        </p:nvCxnSpPr>
        <p:spPr>
          <a:xfrm>
            <a:off x="10337418" y="2488009"/>
            <a:ext cx="44700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矩形 119">
            <a:extLst>
              <a:ext uri="{FF2B5EF4-FFF2-40B4-BE49-F238E27FC236}">
                <a16:creationId xmlns:a16="http://schemas.microsoft.com/office/drawing/2014/main" id="{C8329713-0200-47EA-AA89-C712517D2FC4}"/>
              </a:ext>
            </a:extLst>
          </p:cNvPr>
          <p:cNvSpPr/>
          <p:nvPr/>
        </p:nvSpPr>
        <p:spPr>
          <a:xfrm>
            <a:off x="10796318" y="2249013"/>
            <a:ext cx="1084310" cy="430688"/>
          </a:xfrm>
          <a:prstGeom prst="rect">
            <a:avLst/>
          </a:prstGeom>
          <a:solidFill>
            <a:srgbClr val="712CA1"/>
          </a:solidFill>
          <a:ln>
            <a:solidFill>
              <a:srgbClr val="712C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 to guess</a:t>
            </a:r>
            <a:endParaRPr lang="zh-CN" altLang="en-US" sz="10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DC1DB8E3-1561-4909-B546-2791394D25F0}"/>
              </a:ext>
            </a:extLst>
          </p:cNvPr>
          <p:cNvSpPr txBox="1"/>
          <p:nvPr/>
        </p:nvSpPr>
        <p:spPr>
          <a:xfrm>
            <a:off x="8006765" y="3601813"/>
            <a:ext cx="40164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Pate Classification Model by K-Means++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3" name="对象 122">
            <a:extLst>
              <a:ext uri="{FF2B5EF4-FFF2-40B4-BE49-F238E27FC236}">
                <a16:creationId xmlns:a16="http://schemas.microsoft.com/office/drawing/2014/main" id="{FC0862DC-CA20-4C01-AEB1-F116235B3E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7606964"/>
              </p:ext>
            </p:extLst>
          </p:nvPr>
        </p:nvGraphicFramePr>
        <p:xfrm>
          <a:off x="8331061" y="4018647"/>
          <a:ext cx="1335579" cy="3689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2" name="AxMath" r:id="rId9" imgW="1753200" imgH="484920" progId="Equation.AxMath">
                  <p:embed/>
                </p:oleObj>
              </mc:Choice>
              <mc:Fallback>
                <p:oleObj name="AxMath" r:id="rId9" imgW="1753200" imgH="484920" progId="Equation.AxMat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331061" y="4018647"/>
                        <a:ext cx="1335579" cy="3689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" name="矩形 125">
            <a:extLst>
              <a:ext uri="{FF2B5EF4-FFF2-40B4-BE49-F238E27FC236}">
                <a16:creationId xmlns:a16="http://schemas.microsoft.com/office/drawing/2014/main" id="{38397AF3-1961-4ED1-BDAB-D1432A9BD05A}"/>
              </a:ext>
            </a:extLst>
          </p:cNvPr>
          <p:cNvSpPr/>
          <p:nvPr/>
        </p:nvSpPr>
        <p:spPr>
          <a:xfrm>
            <a:off x="8484870" y="4395856"/>
            <a:ext cx="871284" cy="457200"/>
          </a:xfrm>
          <a:prstGeom prst="rect">
            <a:avLst/>
          </a:prstGeom>
          <a:solidFill>
            <a:srgbClr val="ADD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Difficulty Rate</a:t>
            </a:r>
            <a:endParaRPr lang="zh-CN" alt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CE0267DB-5C37-43EA-BF7A-A6B073E2CF39}"/>
              </a:ext>
            </a:extLst>
          </p:cNvPr>
          <p:cNvSpPr/>
          <p:nvPr/>
        </p:nvSpPr>
        <p:spPr>
          <a:xfrm>
            <a:off x="8478740" y="5648947"/>
            <a:ext cx="871284" cy="457200"/>
          </a:xfrm>
          <a:prstGeom prst="rect">
            <a:avLst/>
          </a:prstGeom>
          <a:solidFill>
            <a:srgbClr val="ADD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K-Means++</a:t>
            </a:r>
          </a:p>
          <a:p>
            <a:pPr algn="ctr"/>
            <a:r>
              <a:rPr lang="en-US" altLang="zh-CN" sz="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Clustering Analysis</a:t>
            </a:r>
            <a:endParaRPr lang="zh-CN" altLang="en-US" sz="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8" name="直接箭头连接符 127">
            <a:extLst>
              <a:ext uri="{FF2B5EF4-FFF2-40B4-BE49-F238E27FC236}">
                <a16:creationId xmlns:a16="http://schemas.microsoft.com/office/drawing/2014/main" id="{EC3B968F-4C4B-40B5-A9CB-D9552E7533C9}"/>
              </a:ext>
            </a:extLst>
          </p:cNvPr>
          <p:cNvCxnSpPr>
            <a:cxnSpLocks/>
          </p:cNvCxnSpPr>
          <p:nvPr/>
        </p:nvCxnSpPr>
        <p:spPr>
          <a:xfrm>
            <a:off x="8914382" y="4853056"/>
            <a:ext cx="0" cy="7921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id="{07797AFC-48FB-4E66-A3CF-EC77310A1B96}"/>
              </a:ext>
            </a:extLst>
          </p:cNvPr>
          <p:cNvCxnSpPr>
            <a:cxnSpLocks/>
          </p:cNvCxnSpPr>
          <p:nvPr/>
        </p:nvCxnSpPr>
        <p:spPr>
          <a:xfrm>
            <a:off x="9350024" y="5859780"/>
            <a:ext cx="66495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矩形 134">
            <a:extLst>
              <a:ext uri="{FF2B5EF4-FFF2-40B4-BE49-F238E27FC236}">
                <a16:creationId xmlns:a16="http://schemas.microsoft.com/office/drawing/2014/main" id="{48B3F03F-E986-4028-9316-47E6A2E03353}"/>
              </a:ext>
            </a:extLst>
          </p:cNvPr>
          <p:cNvSpPr/>
          <p:nvPr/>
        </p:nvSpPr>
        <p:spPr>
          <a:xfrm>
            <a:off x="10050146" y="5645251"/>
            <a:ext cx="871284" cy="457200"/>
          </a:xfrm>
          <a:prstGeom prst="rect">
            <a:avLst/>
          </a:prstGeom>
          <a:solidFill>
            <a:srgbClr val="ADD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Difficulty</a:t>
            </a:r>
          </a:p>
          <a:p>
            <a:pPr algn="ctr"/>
            <a:r>
              <a:rPr lang="en-US" altLang="zh-CN" sz="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endParaRPr lang="zh-CN" altLang="en-US" sz="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997E5888-E942-42BC-BE62-B4E76E15C6B1}"/>
              </a:ext>
            </a:extLst>
          </p:cNvPr>
          <p:cNvCxnSpPr>
            <a:cxnSpLocks/>
          </p:cNvCxnSpPr>
          <p:nvPr/>
        </p:nvCxnSpPr>
        <p:spPr>
          <a:xfrm flipV="1">
            <a:off x="10433382" y="5140847"/>
            <a:ext cx="0" cy="4852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平行四边形 138">
            <a:extLst>
              <a:ext uri="{FF2B5EF4-FFF2-40B4-BE49-F238E27FC236}">
                <a16:creationId xmlns:a16="http://schemas.microsoft.com/office/drawing/2014/main" id="{334BA7AD-EE5F-44D7-A46F-84D179723108}"/>
              </a:ext>
            </a:extLst>
          </p:cNvPr>
          <p:cNvSpPr/>
          <p:nvPr/>
        </p:nvSpPr>
        <p:spPr>
          <a:xfrm>
            <a:off x="10085562" y="4921411"/>
            <a:ext cx="871284" cy="193548"/>
          </a:xfrm>
          <a:prstGeom prst="parallelogram">
            <a:avLst>
              <a:gd name="adj" fmla="val 105540"/>
            </a:avLst>
          </a:prstGeom>
          <a:solidFill>
            <a:srgbClr val="90BE7F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0" name="平行四边形 139">
            <a:extLst>
              <a:ext uri="{FF2B5EF4-FFF2-40B4-BE49-F238E27FC236}">
                <a16:creationId xmlns:a16="http://schemas.microsoft.com/office/drawing/2014/main" id="{C81E68D0-DEBA-4E07-8FEB-C2045D76964A}"/>
              </a:ext>
            </a:extLst>
          </p:cNvPr>
          <p:cNvSpPr/>
          <p:nvPr/>
        </p:nvSpPr>
        <p:spPr>
          <a:xfrm>
            <a:off x="10085562" y="4809718"/>
            <a:ext cx="871284" cy="193548"/>
          </a:xfrm>
          <a:prstGeom prst="parallelogram">
            <a:avLst>
              <a:gd name="adj" fmla="val 105540"/>
            </a:avLst>
          </a:prstGeom>
          <a:solidFill>
            <a:srgbClr val="90BE7F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1" name="平行四边形 140">
            <a:extLst>
              <a:ext uri="{FF2B5EF4-FFF2-40B4-BE49-F238E27FC236}">
                <a16:creationId xmlns:a16="http://schemas.microsoft.com/office/drawing/2014/main" id="{21994B56-A550-4C74-B5A7-50B06ED3E6E5}"/>
              </a:ext>
            </a:extLst>
          </p:cNvPr>
          <p:cNvSpPr/>
          <p:nvPr/>
        </p:nvSpPr>
        <p:spPr>
          <a:xfrm>
            <a:off x="10085562" y="4712944"/>
            <a:ext cx="871284" cy="193548"/>
          </a:xfrm>
          <a:prstGeom prst="parallelogram">
            <a:avLst>
              <a:gd name="adj" fmla="val 105540"/>
            </a:avLst>
          </a:prstGeom>
          <a:solidFill>
            <a:srgbClr val="BDC37A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2" name="平行四边形 141">
            <a:extLst>
              <a:ext uri="{FF2B5EF4-FFF2-40B4-BE49-F238E27FC236}">
                <a16:creationId xmlns:a16="http://schemas.microsoft.com/office/drawing/2014/main" id="{31FF5DB8-6E58-4570-8C30-21F3ED683E74}"/>
              </a:ext>
            </a:extLst>
          </p:cNvPr>
          <p:cNvSpPr/>
          <p:nvPr/>
        </p:nvSpPr>
        <p:spPr>
          <a:xfrm>
            <a:off x="10105104" y="4594966"/>
            <a:ext cx="871284" cy="193548"/>
          </a:xfrm>
          <a:prstGeom prst="parallelogram">
            <a:avLst>
              <a:gd name="adj" fmla="val 105540"/>
            </a:avLst>
          </a:prstGeom>
          <a:solidFill>
            <a:srgbClr val="90BE7F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8" name="平行四边形 137">
            <a:extLst>
              <a:ext uri="{FF2B5EF4-FFF2-40B4-BE49-F238E27FC236}">
                <a16:creationId xmlns:a16="http://schemas.microsoft.com/office/drawing/2014/main" id="{D7FFDDFF-2918-421D-AEDB-5BC2D3FD11D9}"/>
              </a:ext>
            </a:extLst>
          </p:cNvPr>
          <p:cNvSpPr/>
          <p:nvPr/>
        </p:nvSpPr>
        <p:spPr>
          <a:xfrm>
            <a:off x="10111676" y="4483612"/>
            <a:ext cx="871284" cy="193548"/>
          </a:xfrm>
          <a:prstGeom prst="parallelogram">
            <a:avLst>
              <a:gd name="adj" fmla="val 105540"/>
            </a:avLst>
          </a:prstGeom>
          <a:solidFill>
            <a:srgbClr val="90BE7F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C90DF7D6-B665-4F8A-B5E7-A1C46A105B71}"/>
              </a:ext>
            </a:extLst>
          </p:cNvPr>
          <p:cNvSpPr txBox="1"/>
          <p:nvPr/>
        </p:nvSpPr>
        <p:spPr>
          <a:xfrm>
            <a:off x="9940523" y="5028477"/>
            <a:ext cx="1143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1</a:t>
            </a:r>
            <a:endParaRPr lang="zh-CN" altLang="en-US" sz="800" dirty="0"/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A7FB4A11-D98E-45BC-86F4-60156BB6986E}"/>
              </a:ext>
            </a:extLst>
          </p:cNvPr>
          <p:cNvSpPr txBox="1"/>
          <p:nvPr/>
        </p:nvSpPr>
        <p:spPr>
          <a:xfrm>
            <a:off x="9940523" y="4876800"/>
            <a:ext cx="1143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2</a:t>
            </a:r>
            <a:endParaRPr lang="zh-CN" altLang="en-US" sz="800" dirty="0"/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64A3D9AD-FEE8-493D-92B4-3A844E8759CC}"/>
              </a:ext>
            </a:extLst>
          </p:cNvPr>
          <p:cNvSpPr txBox="1"/>
          <p:nvPr/>
        </p:nvSpPr>
        <p:spPr>
          <a:xfrm>
            <a:off x="9940523" y="4774457"/>
            <a:ext cx="1143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3</a:t>
            </a:r>
            <a:endParaRPr lang="zh-CN" altLang="en-US" sz="800" dirty="0"/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797211D2-885E-464D-821B-CC4C52F2917E}"/>
              </a:ext>
            </a:extLst>
          </p:cNvPr>
          <p:cNvSpPr txBox="1"/>
          <p:nvPr/>
        </p:nvSpPr>
        <p:spPr>
          <a:xfrm>
            <a:off x="9940523" y="4661356"/>
            <a:ext cx="1143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4</a:t>
            </a:r>
            <a:endParaRPr lang="zh-CN" altLang="en-US" sz="800" dirty="0"/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55CEEB2A-C1B7-4487-AEA3-3F79D15988BE}"/>
              </a:ext>
            </a:extLst>
          </p:cNvPr>
          <p:cNvSpPr txBox="1"/>
          <p:nvPr/>
        </p:nvSpPr>
        <p:spPr>
          <a:xfrm>
            <a:off x="9940523" y="4557502"/>
            <a:ext cx="1143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5</a:t>
            </a:r>
            <a:endParaRPr lang="zh-CN" altLang="en-US" sz="800" dirty="0"/>
          </a:p>
        </p:txBody>
      </p:sp>
      <p:cxnSp>
        <p:nvCxnSpPr>
          <p:cNvPr id="148" name="直接箭头连接符 147">
            <a:extLst>
              <a:ext uri="{FF2B5EF4-FFF2-40B4-BE49-F238E27FC236}">
                <a16:creationId xmlns:a16="http://schemas.microsoft.com/office/drawing/2014/main" id="{F80BD10B-3274-47DB-94A3-B702DD03A9A1}"/>
              </a:ext>
            </a:extLst>
          </p:cNvPr>
          <p:cNvCxnSpPr>
            <a:cxnSpLocks/>
          </p:cNvCxnSpPr>
          <p:nvPr/>
        </p:nvCxnSpPr>
        <p:spPr>
          <a:xfrm>
            <a:off x="10976388" y="4809718"/>
            <a:ext cx="14023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矩形 151">
            <a:extLst>
              <a:ext uri="{FF2B5EF4-FFF2-40B4-BE49-F238E27FC236}">
                <a16:creationId xmlns:a16="http://schemas.microsoft.com/office/drawing/2014/main" id="{1144B6D2-8CBF-46C1-88FC-393F455EC7B9}"/>
              </a:ext>
            </a:extLst>
          </p:cNvPr>
          <p:cNvSpPr/>
          <p:nvPr/>
        </p:nvSpPr>
        <p:spPr>
          <a:xfrm>
            <a:off x="11107556" y="4693679"/>
            <a:ext cx="915637" cy="251834"/>
          </a:xfrm>
          <a:prstGeom prst="rect">
            <a:avLst/>
          </a:prstGeom>
          <a:solidFill>
            <a:srgbClr val="ADD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EERIE</a:t>
            </a:r>
            <a:endParaRPr lang="zh-CN" alt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7B195A27-100A-4080-B759-6D9253AE6AF3}"/>
              </a:ext>
            </a:extLst>
          </p:cNvPr>
          <p:cNvSpPr/>
          <p:nvPr/>
        </p:nvSpPr>
        <p:spPr>
          <a:xfrm>
            <a:off x="40727" y="49734"/>
            <a:ext cx="21162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23年</a:t>
            </a:r>
            <a:r>
              <a:rPr lang="en-US" altLang="zh-CN" dirty="0"/>
              <a:t>C</a:t>
            </a:r>
            <a:r>
              <a:rPr lang="zh-CN" altLang="en-US" dirty="0"/>
              <a:t>题，</a:t>
            </a:r>
            <a:r>
              <a:rPr lang="en-US" altLang="zh-CN" dirty="0"/>
              <a:t>23</a:t>
            </a:r>
            <a:r>
              <a:rPr lang="zh-CN" altLang="en-US" dirty="0"/>
              <a:t>00348</a:t>
            </a:r>
          </a:p>
        </p:txBody>
      </p:sp>
    </p:spTree>
    <p:extLst>
      <p:ext uri="{BB962C8B-B14F-4D97-AF65-F5344CB8AC3E}">
        <p14:creationId xmlns:p14="http://schemas.microsoft.com/office/powerpoint/2010/main" val="3207614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97DA198F-54FA-4298-96A4-014CBE495746}"/>
              </a:ext>
            </a:extLst>
          </p:cNvPr>
          <p:cNvSpPr/>
          <p:nvPr/>
        </p:nvSpPr>
        <p:spPr>
          <a:xfrm>
            <a:off x="2333297" y="420414"/>
            <a:ext cx="5402317" cy="3111062"/>
          </a:xfrm>
          <a:prstGeom prst="rect">
            <a:avLst/>
          </a:prstGeom>
          <a:noFill/>
          <a:ln w="28575">
            <a:solidFill>
              <a:srgbClr val="7084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03D6B59-7B06-45D7-8214-CC5316BBB31A}"/>
              </a:ext>
            </a:extLst>
          </p:cNvPr>
          <p:cNvSpPr/>
          <p:nvPr/>
        </p:nvSpPr>
        <p:spPr>
          <a:xfrm>
            <a:off x="2456688" y="774192"/>
            <a:ext cx="2048256" cy="2596896"/>
          </a:xfrm>
          <a:prstGeom prst="roundRect">
            <a:avLst/>
          </a:prstGeom>
          <a:noFill/>
          <a:ln w="19050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8C1F71C-DDC7-4861-AF81-8588AD45D80A}"/>
              </a:ext>
            </a:extLst>
          </p:cNvPr>
          <p:cNvSpPr txBox="1"/>
          <p:nvPr/>
        </p:nvSpPr>
        <p:spPr>
          <a:xfrm>
            <a:off x="2788920" y="693052"/>
            <a:ext cx="1383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Superior</a:t>
            </a:r>
          </a:p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Indicators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44B9DAB-22E7-4524-B8F0-562489B1DEE8}"/>
              </a:ext>
            </a:extLst>
          </p:cNvPr>
          <p:cNvSpPr/>
          <p:nvPr/>
        </p:nvSpPr>
        <p:spPr>
          <a:xfrm>
            <a:off x="2751201" y="1420523"/>
            <a:ext cx="1459230" cy="420624"/>
          </a:xfrm>
          <a:prstGeom prst="rect">
            <a:avLst/>
          </a:prstGeom>
          <a:solidFill>
            <a:srgbClr val="FFECB2"/>
          </a:solidFill>
          <a:ln>
            <a:solidFill>
              <a:srgbClr val="FFEC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Society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D068564-5284-42AF-8F89-367021C7AEA3}"/>
              </a:ext>
            </a:extLst>
          </p:cNvPr>
          <p:cNvSpPr/>
          <p:nvPr/>
        </p:nvSpPr>
        <p:spPr>
          <a:xfrm>
            <a:off x="2751201" y="1897221"/>
            <a:ext cx="1459230" cy="420624"/>
          </a:xfrm>
          <a:prstGeom prst="rect">
            <a:avLst/>
          </a:prstGeom>
          <a:solidFill>
            <a:srgbClr val="FFECB2"/>
          </a:solidFill>
          <a:ln>
            <a:solidFill>
              <a:srgbClr val="FFEC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Ecology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D141C78-6A60-4C77-A887-54080A5C3B4E}"/>
              </a:ext>
            </a:extLst>
          </p:cNvPr>
          <p:cNvSpPr/>
          <p:nvPr/>
        </p:nvSpPr>
        <p:spPr>
          <a:xfrm>
            <a:off x="2751201" y="2373919"/>
            <a:ext cx="1459230" cy="420624"/>
          </a:xfrm>
          <a:prstGeom prst="rect">
            <a:avLst/>
          </a:prstGeom>
          <a:solidFill>
            <a:srgbClr val="FFECB2"/>
          </a:solidFill>
          <a:ln>
            <a:solidFill>
              <a:srgbClr val="FFEC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Traffic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FC9F32B-B053-4AA3-9B4F-A01A24314F49}"/>
              </a:ext>
            </a:extLst>
          </p:cNvPr>
          <p:cNvSpPr/>
          <p:nvPr/>
        </p:nvSpPr>
        <p:spPr>
          <a:xfrm>
            <a:off x="2751201" y="2850618"/>
            <a:ext cx="1459230" cy="420624"/>
          </a:xfrm>
          <a:prstGeom prst="rect">
            <a:avLst/>
          </a:prstGeom>
          <a:solidFill>
            <a:srgbClr val="FFECB2"/>
          </a:solidFill>
          <a:ln>
            <a:solidFill>
              <a:srgbClr val="FFEC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Energy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C641B15-C6E8-4BD2-AB5C-6B2E60FA68A7}"/>
              </a:ext>
            </a:extLst>
          </p:cNvPr>
          <p:cNvSpPr/>
          <p:nvPr/>
        </p:nvSpPr>
        <p:spPr>
          <a:xfrm>
            <a:off x="4542663" y="885075"/>
            <a:ext cx="1291209" cy="237513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Indicatores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2785DE4-C2C5-4E6F-BCAD-C0EBD1288B8C}"/>
              </a:ext>
            </a:extLst>
          </p:cNvPr>
          <p:cNvSpPr/>
          <p:nvPr/>
        </p:nvSpPr>
        <p:spPr>
          <a:xfrm>
            <a:off x="6358130" y="885075"/>
            <a:ext cx="1291209" cy="237513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Multilayer factor metric of light pollution risk level 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4C40B31D-6E78-43F1-B70D-D50FA7F6685B}"/>
              </a:ext>
            </a:extLst>
          </p:cNvPr>
          <p:cNvSpPr/>
          <p:nvPr/>
        </p:nvSpPr>
        <p:spPr>
          <a:xfrm>
            <a:off x="5724500" y="1529080"/>
            <a:ext cx="742999" cy="411127"/>
          </a:xfrm>
          <a:prstGeom prst="ellipse">
            <a:avLst/>
          </a:prstGeom>
          <a:solidFill>
            <a:srgbClr val="BD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EWM</a:t>
            </a:r>
            <a:endParaRPr lang="zh-CN" altLang="en-US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4F345F4B-2D75-4794-A424-2B61A7666854}"/>
              </a:ext>
            </a:extLst>
          </p:cNvPr>
          <p:cNvSpPr/>
          <p:nvPr/>
        </p:nvSpPr>
        <p:spPr>
          <a:xfrm>
            <a:off x="5871160" y="1989748"/>
            <a:ext cx="480570" cy="29600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B477BF0-878A-4C4C-9F33-4B8D5F9F1936}"/>
              </a:ext>
            </a:extLst>
          </p:cNvPr>
          <p:cNvSpPr/>
          <p:nvPr/>
        </p:nvSpPr>
        <p:spPr>
          <a:xfrm>
            <a:off x="2618740" y="265480"/>
            <a:ext cx="1026160" cy="371094"/>
          </a:xfrm>
          <a:prstGeom prst="roundRect">
            <a:avLst/>
          </a:prstGeom>
          <a:solidFill>
            <a:srgbClr val="355D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79ABC7C-7694-401D-BC2E-8C7FAEB30390}"/>
              </a:ext>
            </a:extLst>
          </p:cNvPr>
          <p:cNvSpPr/>
          <p:nvPr/>
        </p:nvSpPr>
        <p:spPr>
          <a:xfrm>
            <a:off x="7990155" y="408986"/>
            <a:ext cx="3592245" cy="3111062"/>
          </a:xfrm>
          <a:prstGeom prst="rect">
            <a:avLst/>
          </a:prstGeom>
          <a:noFill/>
          <a:ln w="28575">
            <a:solidFill>
              <a:srgbClr val="7084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E3CBB084-006F-4F14-9E21-B04F9FECE9F5}"/>
              </a:ext>
            </a:extLst>
          </p:cNvPr>
          <p:cNvSpPr/>
          <p:nvPr/>
        </p:nvSpPr>
        <p:spPr>
          <a:xfrm>
            <a:off x="8255172" y="234867"/>
            <a:ext cx="1026160" cy="371094"/>
          </a:xfrm>
          <a:prstGeom prst="roundRect">
            <a:avLst/>
          </a:prstGeom>
          <a:solidFill>
            <a:srgbClr val="355D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05E9E8F2-EAE3-492A-B248-4981A3E0A754}"/>
              </a:ext>
            </a:extLst>
          </p:cNvPr>
          <p:cNvSpPr/>
          <p:nvPr/>
        </p:nvSpPr>
        <p:spPr>
          <a:xfrm>
            <a:off x="8030127" y="1584459"/>
            <a:ext cx="990625" cy="411127"/>
          </a:xfrm>
          <a:prstGeom prst="ellipse">
            <a:avLst/>
          </a:prstGeom>
          <a:solidFill>
            <a:srgbClr val="BD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K-Means</a:t>
            </a:r>
            <a:endParaRPr lang="zh-CN" altLang="en-US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012A4306-EDDB-4635-8274-C0826DC290EF}"/>
              </a:ext>
            </a:extLst>
          </p:cNvPr>
          <p:cNvCxnSpPr>
            <a:stCxn id="14" idx="3"/>
          </p:cNvCxnSpPr>
          <p:nvPr/>
        </p:nvCxnSpPr>
        <p:spPr>
          <a:xfrm>
            <a:off x="7649339" y="2072640"/>
            <a:ext cx="148450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6F61B85A-9C33-486E-B241-DC64E08E01FF}"/>
              </a:ext>
            </a:extLst>
          </p:cNvPr>
          <p:cNvCxnSpPr>
            <a:cxnSpLocks/>
          </p:cNvCxnSpPr>
          <p:nvPr/>
        </p:nvCxnSpPr>
        <p:spPr>
          <a:xfrm>
            <a:off x="9133840" y="911860"/>
            <a:ext cx="0" cy="214907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8F11E251-5E62-429F-AD2C-D1B109821C28}"/>
              </a:ext>
            </a:extLst>
          </p:cNvPr>
          <p:cNvCxnSpPr/>
          <p:nvPr/>
        </p:nvCxnSpPr>
        <p:spPr>
          <a:xfrm>
            <a:off x="9133840" y="911860"/>
            <a:ext cx="51816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A816697E-7BB8-43C1-9E1A-E5EB80E542D1}"/>
              </a:ext>
            </a:extLst>
          </p:cNvPr>
          <p:cNvCxnSpPr/>
          <p:nvPr/>
        </p:nvCxnSpPr>
        <p:spPr>
          <a:xfrm>
            <a:off x="9133840" y="1681480"/>
            <a:ext cx="51816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4078A2F2-187A-4853-868E-AA9BB4B367FF}"/>
              </a:ext>
            </a:extLst>
          </p:cNvPr>
          <p:cNvCxnSpPr/>
          <p:nvPr/>
        </p:nvCxnSpPr>
        <p:spPr>
          <a:xfrm>
            <a:off x="9133840" y="2258060"/>
            <a:ext cx="51816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233C5BDD-C3EC-4101-A540-8C78BD282E7B}"/>
              </a:ext>
            </a:extLst>
          </p:cNvPr>
          <p:cNvCxnSpPr/>
          <p:nvPr/>
        </p:nvCxnSpPr>
        <p:spPr>
          <a:xfrm>
            <a:off x="9130030" y="3057120"/>
            <a:ext cx="51816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5EFA0F6E-0006-433B-A65D-CFE1D559C772}"/>
              </a:ext>
            </a:extLst>
          </p:cNvPr>
          <p:cNvSpPr/>
          <p:nvPr/>
        </p:nvSpPr>
        <p:spPr>
          <a:xfrm>
            <a:off x="9648192" y="551075"/>
            <a:ext cx="1755133" cy="749299"/>
          </a:xfrm>
          <a:prstGeom prst="rect">
            <a:avLst/>
          </a:prstGeom>
          <a:solidFill>
            <a:srgbClr val="FCEA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in a protected land location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FBE14D2-738A-46E7-A10F-D692B125AF61}"/>
              </a:ext>
            </a:extLst>
          </p:cNvPr>
          <p:cNvSpPr/>
          <p:nvPr/>
        </p:nvSpPr>
        <p:spPr>
          <a:xfrm>
            <a:off x="9648191" y="1392064"/>
            <a:ext cx="1755133" cy="580214"/>
          </a:xfrm>
          <a:prstGeom prst="rect">
            <a:avLst/>
          </a:prstGeom>
          <a:solidFill>
            <a:srgbClr val="FCEA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in a rural community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336FDD8-6E37-4FCB-A365-75CF16BEFF79}"/>
              </a:ext>
            </a:extLst>
          </p:cNvPr>
          <p:cNvSpPr/>
          <p:nvPr/>
        </p:nvSpPr>
        <p:spPr>
          <a:xfrm>
            <a:off x="9648190" y="2027738"/>
            <a:ext cx="1755133" cy="580214"/>
          </a:xfrm>
          <a:prstGeom prst="rect">
            <a:avLst/>
          </a:prstGeom>
          <a:solidFill>
            <a:srgbClr val="FCEA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in a urban community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69DB81E-1054-4CC3-A5D6-A3695F9BE303}"/>
              </a:ext>
            </a:extLst>
          </p:cNvPr>
          <p:cNvSpPr/>
          <p:nvPr/>
        </p:nvSpPr>
        <p:spPr>
          <a:xfrm>
            <a:off x="9648189" y="2678042"/>
            <a:ext cx="1755133" cy="732799"/>
          </a:xfrm>
          <a:prstGeom prst="rect">
            <a:avLst/>
          </a:prstGeom>
          <a:solidFill>
            <a:srgbClr val="FCEA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in a suburban </a:t>
            </a:r>
            <a:r>
              <a:rPr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dommunity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1229F7E-167B-4C68-89B9-B10C128E2AD2}"/>
              </a:ext>
            </a:extLst>
          </p:cNvPr>
          <p:cNvSpPr/>
          <p:nvPr/>
        </p:nvSpPr>
        <p:spPr>
          <a:xfrm>
            <a:off x="6882084" y="3996136"/>
            <a:ext cx="4742986" cy="2557549"/>
          </a:xfrm>
          <a:prstGeom prst="rect">
            <a:avLst/>
          </a:prstGeom>
          <a:noFill/>
          <a:ln w="28575">
            <a:solidFill>
              <a:srgbClr val="7084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9D8002DE-5111-49E1-816F-86AD184BCE3C}"/>
              </a:ext>
            </a:extLst>
          </p:cNvPr>
          <p:cNvSpPr/>
          <p:nvPr/>
        </p:nvSpPr>
        <p:spPr>
          <a:xfrm>
            <a:off x="7136259" y="3867609"/>
            <a:ext cx="1026160" cy="371094"/>
          </a:xfrm>
          <a:prstGeom prst="roundRect">
            <a:avLst/>
          </a:prstGeom>
          <a:solidFill>
            <a:srgbClr val="355D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箭头: 右 37">
            <a:extLst>
              <a:ext uri="{FF2B5EF4-FFF2-40B4-BE49-F238E27FC236}">
                <a16:creationId xmlns:a16="http://schemas.microsoft.com/office/drawing/2014/main" id="{C48B10C7-39A1-4098-ADBD-01D538E9106A}"/>
              </a:ext>
            </a:extLst>
          </p:cNvPr>
          <p:cNvSpPr/>
          <p:nvPr/>
        </p:nvSpPr>
        <p:spPr>
          <a:xfrm rot="5400000">
            <a:off x="10406004" y="3580384"/>
            <a:ext cx="456769" cy="374739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D055F756-B692-4540-A89E-64D6DBA54BA4}"/>
              </a:ext>
            </a:extLst>
          </p:cNvPr>
          <p:cNvSpPr/>
          <p:nvPr/>
        </p:nvSpPr>
        <p:spPr>
          <a:xfrm>
            <a:off x="6999889" y="4559802"/>
            <a:ext cx="1140917" cy="1533283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Impacts level prediction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FADCE275-B415-45C8-859A-857DB9FF037B}"/>
              </a:ext>
            </a:extLst>
          </p:cNvPr>
          <p:cNvSpPr/>
          <p:nvPr/>
        </p:nvSpPr>
        <p:spPr>
          <a:xfrm>
            <a:off x="8450293" y="4546096"/>
            <a:ext cx="1140917" cy="1533283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 strategies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箭头: 右 40">
            <a:extLst>
              <a:ext uri="{FF2B5EF4-FFF2-40B4-BE49-F238E27FC236}">
                <a16:creationId xmlns:a16="http://schemas.microsoft.com/office/drawing/2014/main" id="{DB1586F6-F1E6-457D-A6C1-554786D56D99}"/>
              </a:ext>
            </a:extLst>
          </p:cNvPr>
          <p:cNvSpPr/>
          <p:nvPr/>
        </p:nvSpPr>
        <p:spPr>
          <a:xfrm rot="10800000">
            <a:off x="8044869" y="5164734"/>
            <a:ext cx="480570" cy="29600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2" name="箭头: 右 41">
            <a:extLst>
              <a:ext uri="{FF2B5EF4-FFF2-40B4-BE49-F238E27FC236}">
                <a16:creationId xmlns:a16="http://schemas.microsoft.com/office/drawing/2014/main" id="{5BDEF276-F401-4CF4-BEBF-3116492D2AE6}"/>
              </a:ext>
            </a:extLst>
          </p:cNvPr>
          <p:cNvSpPr/>
          <p:nvPr/>
        </p:nvSpPr>
        <p:spPr>
          <a:xfrm rot="10800000">
            <a:off x="6443979" y="5326442"/>
            <a:ext cx="359039" cy="29600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7EC6404-B656-4120-B5F2-06163511B537}"/>
              </a:ext>
            </a:extLst>
          </p:cNvPr>
          <p:cNvSpPr/>
          <p:nvPr/>
        </p:nvSpPr>
        <p:spPr>
          <a:xfrm>
            <a:off x="9670276" y="4208176"/>
            <a:ext cx="1755133" cy="843418"/>
          </a:xfrm>
          <a:prstGeom prst="rect">
            <a:avLst/>
          </a:prstGeom>
          <a:solidFill>
            <a:srgbClr val="A3BA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situations in four locations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8AD9AEE-D504-4D17-91CB-AD3C908CB1D4}"/>
              </a:ext>
            </a:extLst>
          </p:cNvPr>
          <p:cNvSpPr/>
          <p:nvPr/>
        </p:nvSpPr>
        <p:spPr>
          <a:xfrm>
            <a:off x="9670276" y="5603964"/>
            <a:ext cx="1755133" cy="843418"/>
          </a:xfrm>
          <a:prstGeom prst="rect">
            <a:avLst/>
          </a:prstGeom>
          <a:solidFill>
            <a:srgbClr val="A3BA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Ideal visions in four location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A40DBEF2-44DC-4783-A0A8-BF1478DB70A8}"/>
              </a:ext>
            </a:extLst>
          </p:cNvPr>
          <p:cNvCxnSpPr>
            <a:cxnSpLocks/>
          </p:cNvCxnSpPr>
          <p:nvPr/>
        </p:nvCxnSpPr>
        <p:spPr>
          <a:xfrm>
            <a:off x="10595610" y="5078730"/>
            <a:ext cx="0" cy="48387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6F803661-3B7D-4B42-9128-73183ADA3496}"/>
              </a:ext>
            </a:extLst>
          </p:cNvPr>
          <p:cNvCxnSpPr>
            <a:cxnSpLocks/>
          </p:cNvCxnSpPr>
          <p:nvPr/>
        </p:nvCxnSpPr>
        <p:spPr>
          <a:xfrm flipH="1">
            <a:off x="9591211" y="5312737"/>
            <a:ext cx="100439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>
            <a:extLst>
              <a:ext uri="{FF2B5EF4-FFF2-40B4-BE49-F238E27FC236}">
                <a16:creationId xmlns:a16="http://schemas.microsoft.com/office/drawing/2014/main" id="{AD5010B8-43A7-4E16-82DE-40866E7D7DEF}"/>
              </a:ext>
            </a:extLst>
          </p:cNvPr>
          <p:cNvSpPr/>
          <p:nvPr/>
        </p:nvSpPr>
        <p:spPr>
          <a:xfrm>
            <a:off x="2333297" y="4427572"/>
            <a:ext cx="4083136" cy="2126113"/>
          </a:xfrm>
          <a:prstGeom prst="rect">
            <a:avLst/>
          </a:prstGeom>
          <a:noFill/>
          <a:ln w="28575">
            <a:solidFill>
              <a:srgbClr val="7084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2F1E2440-EDBC-4E18-B7EC-D8B72CD627A3}"/>
              </a:ext>
            </a:extLst>
          </p:cNvPr>
          <p:cNvSpPr/>
          <p:nvPr/>
        </p:nvSpPr>
        <p:spPr>
          <a:xfrm>
            <a:off x="2511078" y="4242025"/>
            <a:ext cx="1026160" cy="371094"/>
          </a:xfrm>
          <a:prstGeom prst="roundRect">
            <a:avLst/>
          </a:prstGeom>
          <a:solidFill>
            <a:srgbClr val="355D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6F44F5C9-ADD7-47A2-BDC1-029EDD759904}"/>
              </a:ext>
            </a:extLst>
          </p:cNvPr>
          <p:cNvSpPr/>
          <p:nvPr/>
        </p:nvSpPr>
        <p:spPr>
          <a:xfrm>
            <a:off x="2561361" y="4807556"/>
            <a:ext cx="1140917" cy="1533283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</a:t>
            </a: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矩形: 剪去顶角 53">
            <a:extLst>
              <a:ext uri="{FF2B5EF4-FFF2-40B4-BE49-F238E27FC236}">
                <a16:creationId xmlns:a16="http://schemas.microsoft.com/office/drawing/2014/main" id="{EB7C0683-B813-423A-9A49-88779257B68F}"/>
              </a:ext>
            </a:extLst>
          </p:cNvPr>
          <p:cNvSpPr/>
          <p:nvPr/>
        </p:nvSpPr>
        <p:spPr>
          <a:xfrm>
            <a:off x="4955765" y="4740380"/>
            <a:ext cx="1318739" cy="676700"/>
          </a:xfrm>
          <a:prstGeom prst="snip2SameRect">
            <a:avLst/>
          </a:prstGeom>
          <a:solidFill>
            <a:srgbClr val="CEE1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suburban Community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矩形: 剪去顶角 54">
            <a:extLst>
              <a:ext uri="{FF2B5EF4-FFF2-40B4-BE49-F238E27FC236}">
                <a16:creationId xmlns:a16="http://schemas.microsoft.com/office/drawing/2014/main" id="{117246EF-82E7-4A56-8176-A74D61B915B9}"/>
              </a:ext>
            </a:extLst>
          </p:cNvPr>
          <p:cNvSpPr/>
          <p:nvPr/>
        </p:nvSpPr>
        <p:spPr>
          <a:xfrm>
            <a:off x="4955765" y="5663669"/>
            <a:ext cx="1318739" cy="676700"/>
          </a:xfrm>
          <a:prstGeom prst="snip2SameRect">
            <a:avLst/>
          </a:prstGeom>
          <a:solidFill>
            <a:srgbClr val="CEE1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urban Community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8FC05B3-FE66-47CA-9C95-E8BB31A60DBA}"/>
              </a:ext>
            </a:extLst>
          </p:cNvPr>
          <p:cNvSpPr txBox="1"/>
          <p:nvPr/>
        </p:nvSpPr>
        <p:spPr>
          <a:xfrm>
            <a:off x="3781344" y="4851072"/>
            <a:ext cx="11413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</a:t>
            </a:r>
          </a:p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strayegy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A8BF4C7D-C806-4AC5-B161-ABC5F5CD6889}"/>
              </a:ext>
            </a:extLst>
          </p:cNvPr>
          <p:cNvSpPr txBox="1"/>
          <p:nvPr/>
        </p:nvSpPr>
        <p:spPr>
          <a:xfrm>
            <a:off x="3841376" y="5663669"/>
            <a:ext cx="9596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 planning strategy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61B4EA96-3E96-4F0A-AA27-52098B07D60D}"/>
              </a:ext>
            </a:extLst>
          </p:cNvPr>
          <p:cNvCxnSpPr>
            <a:cxnSpLocks/>
            <a:stCxn id="56" idx="3"/>
          </p:cNvCxnSpPr>
          <p:nvPr/>
        </p:nvCxnSpPr>
        <p:spPr>
          <a:xfrm flipH="1">
            <a:off x="4615180" y="5081905"/>
            <a:ext cx="30748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4F25DFC8-5029-44D7-81C5-A67269148FCE}"/>
              </a:ext>
            </a:extLst>
          </p:cNvPr>
          <p:cNvCxnSpPr>
            <a:cxnSpLocks/>
          </p:cNvCxnSpPr>
          <p:nvPr/>
        </p:nvCxnSpPr>
        <p:spPr>
          <a:xfrm flipH="1">
            <a:off x="4650740" y="5986834"/>
            <a:ext cx="271928" cy="151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1A0A1E5A-72BE-4129-9CBE-86121591C202}"/>
              </a:ext>
            </a:extLst>
          </p:cNvPr>
          <p:cNvCxnSpPr>
            <a:cxnSpLocks/>
          </p:cNvCxnSpPr>
          <p:nvPr/>
        </p:nvCxnSpPr>
        <p:spPr>
          <a:xfrm flipH="1">
            <a:off x="3750945" y="5094249"/>
            <a:ext cx="30708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340DD429-6404-4965-8C15-F5935DE22243}"/>
              </a:ext>
            </a:extLst>
          </p:cNvPr>
          <p:cNvCxnSpPr>
            <a:cxnSpLocks/>
          </p:cNvCxnSpPr>
          <p:nvPr/>
        </p:nvCxnSpPr>
        <p:spPr>
          <a:xfrm flipH="1">
            <a:off x="3735624" y="5986834"/>
            <a:ext cx="30708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矩形 65">
            <a:extLst>
              <a:ext uri="{FF2B5EF4-FFF2-40B4-BE49-F238E27FC236}">
                <a16:creationId xmlns:a16="http://schemas.microsoft.com/office/drawing/2014/main" id="{2972B6AF-9631-411F-A210-603DD8DF50E8}"/>
              </a:ext>
            </a:extLst>
          </p:cNvPr>
          <p:cNvSpPr/>
          <p:nvPr/>
        </p:nvSpPr>
        <p:spPr>
          <a:xfrm>
            <a:off x="-34970" y="1117707"/>
            <a:ext cx="19207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 </a:t>
            </a:r>
            <a:r>
              <a:rPr lang="en-US" altLang="zh-CN" dirty="0"/>
              <a:t>23</a:t>
            </a:r>
            <a:r>
              <a:rPr lang="zh-CN" altLang="en-US" dirty="0"/>
              <a:t>年</a:t>
            </a:r>
            <a:r>
              <a:rPr lang="en-US" altLang="zh-CN" dirty="0"/>
              <a:t>E</a:t>
            </a:r>
            <a:r>
              <a:rPr lang="zh-CN" altLang="en-US" dirty="0"/>
              <a:t>，</a:t>
            </a:r>
            <a:r>
              <a:rPr lang="en-US" altLang="zh-CN" dirty="0"/>
              <a:t>2314354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6279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55840214-9FF5-43D6-848C-8491170BAAD6}"/>
              </a:ext>
            </a:extLst>
          </p:cNvPr>
          <p:cNvSpPr/>
          <p:nvPr/>
        </p:nvSpPr>
        <p:spPr>
          <a:xfrm>
            <a:off x="1944413" y="601717"/>
            <a:ext cx="9122979" cy="5654566"/>
          </a:xfrm>
          <a:prstGeom prst="roundRect">
            <a:avLst/>
          </a:prstGeom>
          <a:solidFill>
            <a:srgbClr val="FEF6F0"/>
          </a:solidFill>
          <a:ln w="19050">
            <a:solidFill>
              <a:srgbClr val="75767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7ECC31D5-B887-4A6A-A54B-78546687B829}"/>
              </a:ext>
            </a:extLst>
          </p:cNvPr>
          <p:cNvSpPr/>
          <p:nvPr/>
        </p:nvSpPr>
        <p:spPr>
          <a:xfrm>
            <a:off x="2493276" y="3548085"/>
            <a:ext cx="8149140" cy="2058358"/>
          </a:xfrm>
          <a:prstGeom prst="roundRect">
            <a:avLst/>
          </a:prstGeom>
          <a:solidFill>
            <a:srgbClr val="FFFEF3"/>
          </a:solidFill>
          <a:ln w="19050">
            <a:solidFill>
              <a:srgbClr val="3E79D8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65BCA636-98AC-4461-9573-F8788666B205}"/>
              </a:ext>
            </a:extLst>
          </p:cNvPr>
          <p:cNvSpPr/>
          <p:nvPr/>
        </p:nvSpPr>
        <p:spPr>
          <a:xfrm>
            <a:off x="6369890" y="1354340"/>
            <a:ext cx="4272526" cy="2058358"/>
          </a:xfrm>
          <a:prstGeom prst="roundRect">
            <a:avLst/>
          </a:prstGeom>
          <a:solidFill>
            <a:srgbClr val="FFF9FE"/>
          </a:solidFill>
          <a:ln w="19050">
            <a:solidFill>
              <a:srgbClr val="3E79D8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F0E2580-1B1F-4FDF-9D31-ADAAA2E9FF37}"/>
              </a:ext>
            </a:extLst>
          </p:cNvPr>
          <p:cNvSpPr/>
          <p:nvPr/>
        </p:nvSpPr>
        <p:spPr>
          <a:xfrm>
            <a:off x="2535883" y="1354340"/>
            <a:ext cx="3642360" cy="2058358"/>
          </a:xfrm>
          <a:prstGeom prst="roundRect">
            <a:avLst/>
          </a:prstGeom>
          <a:solidFill>
            <a:srgbClr val="F9F9F9"/>
          </a:solidFill>
          <a:ln w="19050">
            <a:solidFill>
              <a:srgbClr val="3E79D8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8EA5B88-21C3-4A76-9B45-44EB3E367EF5}"/>
              </a:ext>
            </a:extLst>
          </p:cNvPr>
          <p:cNvSpPr/>
          <p:nvPr/>
        </p:nvSpPr>
        <p:spPr>
          <a:xfrm>
            <a:off x="2319983" y="1014704"/>
            <a:ext cx="8514080" cy="4846320"/>
          </a:xfrm>
          <a:prstGeom prst="rect">
            <a:avLst/>
          </a:prstGeom>
          <a:noFill/>
          <a:ln w="19050">
            <a:solidFill>
              <a:srgbClr val="75767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939515E-F00A-4F6F-8C82-FDE81038F055}"/>
              </a:ext>
            </a:extLst>
          </p:cNvPr>
          <p:cNvSpPr/>
          <p:nvPr/>
        </p:nvSpPr>
        <p:spPr>
          <a:xfrm>
            <a:off x="5794703" y="808965"/>
            <a:ext cx="1697990" cy="469899"/>
          </a:xfrm>
          <a:prstGeom prst="rect">
            <a:avLst/>
          </a:prstGeom>
          <a:solidFill>
            <a:srgbClr val="FEF6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C7FDFE7-2E5C-478C-AF19-106DEEC0558E}"/>
              </a:ext>
            </a:extLst>
          </p:cNvPr>
          <p:cNvSpPr txBox="1"/>
          <p:nvPr/>
        </p:nvSpPr>
        <p:spPr>
          <a:xfrm>
            <a:off x="5903923" y="808965"/>
            <a:ext cx="163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SustainaDility</a:t>
            </a:r>
            <a:endParaRPr lang="zh-CN" altLang="en-US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B558B72-8621-4876-9267-3891BE51727A}"/>
              </a:ext>
            </a:extLst>
          </p:cNvPr>
          <p:cNvSpPr/>
          <p:nvPr/>
        </p:nvSpPr>
        <p:spPr>
          <a:xfrm>
            <a:off x="5616141" y="5647099"/>
            <a:ext cx="2322322" cy="469899"/>
          </a:xfrm>
          <a:prstGeom prst="rect">
            <a:avLst/>
          </a:prstGeom>
          <a:solidFill>
            <a:srgbClr val="FEF6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13E3B33-955C-48E8-9CED-B3E1C1EA392A}"/>
              </a:ext>
            </a:extLst>
          </p:cNvPr>
          <p:cNvSpPr txBox="1"/>
          <p:nvPr/>
        </p:nvSpPr>
        <p:spPr>
          <a:xfrm>
            <a:off x="5705422" y="5689321"/>
            <a:ext cx="2143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Climate mitigation</a:t>
            </a:r>
            <a:endParaRPr lang="zh-CN" altLang="en-US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A116621-395F-48CF-B157-44FE2A84FF65}"/>
              </a:ext>
            </a:extLst>
          </p:cNvPr>
          <p:cNvSpPr txBox="1"/>
          <p:nvPr/>
        </p:nvSpPr>
        <p:spPr>
          <a:xfrm>
            <a:off x="2637229" y="1403131"/>
            <a:ext cx="163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1</a:t>
            </a:r>
            <a:endParaRPr lang="zh-CN" altLang="en-US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52C769A-077B-4120-84B2-714B0CF058A9}"/>
              </a:ext>
            </a:extLst>
          </p:cNvPr>
          <p:cNvSpPr txBox="1"/>
          <p:nvPr/>
        </p:nvSpPr>
        <p:spPr>
          <a:xfrm>
            <a:off x="6460892" y="1408536"/>
            <a:ext cx="163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4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3CB0C3B-2DFD-4183-925B-C59A6450B67F}"/>
              </a:ext>
            </a:extLst>
          </p:cNvPr>
          <p:cNvSpPr txBox="1"/>
          <p:nvPr/>
        </p:nvSpPr>
        <p:spPr>
          <a:xfrm>
            <a:off x="2577031" y="3618437"/>
            <a:ext cx="163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2</a:t>
            </a:r>
            <a:endParaRPr lang="zh-CN" altLang="en-US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DC7514-5B79-412F-85F3-08FED14616E4}"/>
              </a:ext>
            </a:extLst>
          </p:cNvPr>
          <p:cNvSpPr txBox="1"/>
          <p:nvPr/>
        </p:nvSpPr>
        <p:spPr>
          <a:xfrm>
            <a:off x="6044893" y="3632077"/>
            <a:ext cx="163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3</a:t>
            </a:r>
            <a:endParaRPr lang="zh-CN" altLang="en-US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B812CB7-7726-40A2-9B43-EDEB50AE12F0}"/>
              </a:ext>
            </a:extLst>
          </p:cNvPr>
          <p:cNvSpPr/>
          <p:nvPr/>
        </p:nvSpPr>
        <p:spPr>
          <a:xfrm>
            <a:off x="2618179" y="2289990"/>
            <a:ext cx="778002" cy="369332"/>
          </a:xfrm>
          <a:prstGeom prst="roundRect">
            <a:avLst/>
          </a:prstGeom>
          <a:gradFill flip="none" rotWithShape="1">
            <a:gsLst>
              <a:gs pos="0">
                <a:srgbClr val="F7E8D1"/>
              </a:gs>
              <a:gs pos="100000">
                <a:srgbClr val="E9C16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GGDP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8380AC6E-7176-469C-A556-E8B7D70EA786}"/>
              </a:ext>
            </a:extLst>
          </p:cNvPr>
          <p:cNvGrpSpPr/>
          <p:nvPr/>
        </p:nvGrpSpPr>
        <p:grpSpPr>
          <a:xfrm>
            <a:off x="3519842" y="4068235"/>
            <a:ext cx="637614" cy="1173029"/>
            <a:chOff x="3213989" y="1644854"/>
            <a:chExt cx="637614" cy="1326946"/>
          </a:xfrm>
        </p:grpSpPr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D5FAA7F7-5409-4052-8C1C-A97EAE79E262}"/>
                </a:ext>
              </a:extLst>
            </p:cNvPr>
            <p:cNvCxnSpPr>
              <a:stCxn id="16" idx="3"/>
            </p:cNvCxnSpPr>
            <p:nvPr/>
          </p:nvCxnSpPr>
          <p:spPr>
            <a:xfrm>
              <a:off x="3396181" y="2493150"/>
              <a:ext cx="45542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FF44B252-40E4-4546-907E-83FD84196FB6}"/>
                </a:ext>
              </a:extLst>
            </p:cNvPr>
            <p:cNvCxnSpPr>
              <a:cxnSpLocks/>
            </p:cNvCxnSpPr>
            <p:nvPr/>
          </p:nvCxnSpPr>
          <p:spPr>
            <a:xfrm>
              <a:off x="3213989" y="1644854"/>
              <a:ext cx="25552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20D9E888-8BE2-4A6F-8A69-95C095E4D6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13989" y="2970734"/>
              <a:ext cx="227711" cy="106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0DE6A6B-E88D-4201-9882-BF5AC9526653}"/>
                </a:ext>
              </a:extLst>
            </p:cNvPr>
            <p:cNvCxnSpPr/>
            <p:nvPr/>
          </p:nvCxnSpPr>
          <p:spPr>
            <a:xfrm>
              <a:off x="3213989" y="1644854"/>
              <a:ext cx="0" cy="132694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933D865D-A083-4794-A97F-28C6DB96FC37}"/>
              </a:ext>
            </a:extLst>
          </p:cNvPr>
          <p:cNvSpPr/>
          <p:nvPr/>
        </p:nvSpPr>
        <p:spPr>
          <a:xfrm>
            <a:off x="3893131" y="1463891"/>
            <a:ext cx="1545963" cy="641528"/>
          </a:xfrm>
          <a:prstGeom prst="roundRect">
            <a:avLst/>
          </a:prstGeom>
          <a:gradFill flip="none" rotWithShape="1">
            <a:gsLst>
              <a:gs pos="0">
                <a:srgbClr val="C0DCAE"/>
              </a:gs>
              <a:gs pos="100000">
                <a:srgbClr val="E5F0C9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Carbon dioxide </a:t>
            </a:r>
            <a:r>
              <a:rPr lang="en-US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emmissions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5F29FE99-D338-440E-90F6-3A60C87BB89C}"/>
              </a:ext>
            </a:extLst>
          </p:cNvPr>
          <p:cNvSpPr/>
          <p:nvPr/>
        </p:nvSpPr>
        <p:spPr>
          <a:xfrm>
            <a:off x="3842195" y="2227172"/>
            <a:ext cx="2157729" cy="548129"/>
          </a:xfrm>
          <a:prstGeom prst="roundRect">
            <a:avLst/>
          </a:prstGeom>
          <a:gradFill flip="none" rotWithShape="1">
            <a:gsLst>
              <a:gs pos="0">
                <a:srgbClr val="E9DAF3"/>
              </a:gs>
              <a:gs pos="100000">
                <a:srgbClr val="D8EFF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Consumption of              natural resource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BEB27EA9-F615-4A91-AB87-4237BAAF0841}"/>
              </a:ext>
            </a:extLst>
          </p:cNvPr>
          <p:cNvSpPr/>
          <p:nvPr/>
        </p:nvSpPr>
        <p:spPr>
          <a:xfrm>
            <a:off x="3876317" y="2922572"/>
            <a:ext cx="2123608" cy="377933"/>
          </a:xfrm>
          <a:prstGeom prst="roundRect">
            <a:avLst/>
          </a:prstGeom>
          <a:gradFill flip="none" rotWithShape="1">
            <a:gsLst>
              <a:gs pos="0">
                <a:srgbClr val="F1DD97"/>
              </a:gs>
              <a:gs pos="100000">
                <a:srgbClr val="EFCCF5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Waste utilization cost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7090DC7C-05D8-4718-B6FA-79B3D2B99529}"/>
              </a:ext>
            </a:extLst>
          </p:cNvPr>
          <p:cNvSpPr/>
          <p:nvPr/>
        </p:nvSpPr>
        <p:spPr>
          <a:xfrm>
            <a:off x="6653889" y="1839316"/>
            <a:ext cx="1111854" cy="519330"/>
          </a:xfrm>
          <a:prstGeom prst="roundRect">
            <a:avLst/>
          </a:prstGeom>
          <a:gradFill flip="none" rotWithShape="1">
            <a:gsLst>
              <a:gs pos="0">
                <a:srgbClr val="F1DD97"/>
              </a:gs>
              <a:gs pos="100000">
                <a:srgbClr val="EFCCF5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Industrial structure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529822CC-D60E-4FE2-8FB0-92CFA56326D0}"/>
              </a:ext>
            </a:extLst>
          </p:cNvPr>
          <p:cNvSpPr/>
          <p:nvPr/>
        </p:nvSpPr>
        <p:spPr>
          <a:xfrm>
            <a:off x="9557919" y="3006266"/>
            <a:ext cx="869743" cy="344081"/>
          </a:xfrm>
          <a:prstGeom prst="roundRect">
            <a:avLst/>
          </a:prstGeom>
          <a:gradFill flip="none" rotWithShape="1">
            <a:gsLst>
              <a:gs pos="0">
                <a:srgbClr val="F1DD97"/>
              </a:gs>
              <a:gs pos="100000">
                <a:srgbClr val="EFCCF5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CC29F5E-568F-4A85-B4C8-1BD9124FC340}"/>
              </a:ext>
            </a:extLst>
          </p:cNvPr>
          <p:cNvSpPr txBox="1"/>
          <p:nvPr/>
        </p:nvSpPr>
        <p:spPr>
          <a:xfrm>
            <a:off x="9555304" y="2636934"/>
            <a:ext cx="1045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5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CC43F884-CF2E-450C-8AF6-F8E107A29D6D}"/>
              </a:ext>
            </a:extLst>
          </p:cNvPr>
          <p:cNvSpPr/>
          <p:nvPr/>
        </p:nvSpPr>
        <p:spPr>
          <a:xfrm>
            <a:off x="9555304" y="1599988"/>
            <a:ext cx="795212" cy="411665"/>
          </a:xfrm>
          <a:prstGeom prst="roundRect">
            <a:avLst/>
          </a:prstGeom>
          <a:gradFill flip="none" rotWithShape="1">
            <a:gsLst>
              <a:gs pos="0">
                <a:srgbClr val="F7E8D1"/>
              </a:gs>
              <a:gs pos="100000">
                <a:srgbClr val="E9C16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Policy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16ECFFA9-F2C3-46AD-A468-C5A20474DDAA}"/>
              </a:ext>
            </a:extLst>
          </p:cNvPr>
          <p:cNvSpPr/>
          <p:nvPr/>
        </p:nvSpPr>
        <p:spPr>
          <a:xfrm>
            <a:off x="6577912" y="2685502"/>
            <a:ext cx="1187831" cy="615003"/>
          </a:xfrm>
          <a:prstGeom prst="roundRect">
            <a:avLst/>
          </a:prstGeom>
          <a:gradFill flip="none" rotWithShape="1">
            <a:gsLst>
              <a:gs pos="0">
                <a:srgbClr val="C0DCAE"/>
              </a:gs>
              <a:gs pos="100000">
                <a:srgbClr val="E5F0C9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Waste treatment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6968A67C-4235-4347-927C-44B7699D63AF}"/>
              </a:ext>
            </a:extLst>
          </p:cNvPr>
          <p:cNvSpPr/>
          <p:nvPr/>
        </p:nvSpPr>
        <p:spPr>
          <a:xfrm>
            <a:off x="8107503" y="2246504"/>
            <a:ext cx="1045080" cy="548129"/>
          </a:xfrm>
          <a:prstGeom prst="roundRect">
            <a:avLst/>
          </a:prstGeom>
          <a:gradFill flip="none" rotWithShape="1">
            <a:gsLst>
              <a:gs pos="0">
                <a:srgbClr val="E9DAF3"/>
              </a:gs>
              <a:gs pos="100000">
                <a:srgbClr val="D8EFF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Australia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688BCE70-8C39-451F-B608-DE07B8EBC4F2}"/>
              </a:ext>
            </a:extLst>
          </p:cNvPr>
          <p:cNvCxnSpPr>
            <a:cxnSpLocks/>
          </p:cNvCxnSpPr>
          <p:nvPr/>
        </p:nvCxnSpPr>
        <p:spPr>
          <a:xfrm>
            <a:off x="7948623" y="2085752"/>
            <a:ext cx="0" cy="9205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20851550-7D62-4095-BDBC-F87C4A898192}"/>
              </a:ext>
            </a:extLst>
          </p:cNvPr>
          <p:cNvCxnSpPr>
            <a:cxnSpLocks/>
          </p:cNvCxnSpPr>
          <p:nvPr/>
        </p:nvCxnSpPr>
        <p:spPr>
          <a:xfrm>
            <a:off x="7948623" y="2528188"/>
            <a:ext cx="1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EBC531AC-C4A3-446C-A616-C9A3C9BE69F6}"/>
              </a:ext>
            </a:extLst>
          </p:cNvPr>
          <p:cNvCxnSpPr>
            <a:cxnSpLocks/>
          </p:cNvCxnSpPr>
          <p:nvPr/>
        </p:nvCxnSpPr>
        <p:spPr>
          <a:xfrm>
            <a:off x="9152583" y="2528188"/>
            <a:ext cx="2012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29F7C1E5-FA1C-4EC2-AF3C-CED2792A7C32}"/>
              </a:ext>
            </a:extLst>
          </p:cNvPr>
          <p:cNvCxnSpPr>
            <a:cxnSpLocks/>
          </p:cNvCxnSpPr>
          <p:nvPr/>
        </p:nvCxnSpPr>
        <p:spPr>
          <a:xfrm>
            <a:off x="9358958" y="1805820"/>
            <a:ext cx="0" cy="13724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B1EFAF94-5313-42F8-B4FD-401A4E3B6E9B}"/>
              </a:ext>
            </a:extLst>
          </p:cNvPr>
          <p:cNvCxnSpPr>
            <a:cxnSpLocks/>
          </p:cNvCxnSpPr>
          <p:nvPr/>
        </p:nvCxnSpPr>
        <p:spPr>
          <a:xfrm flipH="1">
            <a:off x="7782253" y="2085752"/>
            <a:ext cx="1663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B943730E-5DF5-4A22-9982-3056617F26F8}"/>
              </a:ext>
            </a:extLst>
          </p:cNvPr>
          <p:cNvCxnSpPr>
            <a:cxnSpLocks/>
          </p:cNvCxnSpPr>
          <p:nvPr/>
        </p:nvCxnSpPr>
        <p:spPr>
          <a:xfrm flipH="1">
            <a:off x="7785428" y="2994836"/>
            <a:ext cx="1663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CEFEAAD1-BD3E-4BF3-93AE-C48F71E19997}"/>
              </a:ext>
            </a:extLst>
          </p:cNvPr>
          <p:cNvCxnSpPr>
            <a:cxnSpLocks/>
          </p:cNvCxnSpPr>
          <p:nvPr/>
        </p:nvCxnSpPr>
        <p:spPr>
          <a:xfrm>
            <a:off x="9353878" y="3178306"/>
            <a:ext cx="1663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598288D3-D2AE-43E6-8CE5-E0CE06CB6C8B}"/>
              </a:ext>
            </a:extLst>
          </p:cNvPr>
          <p:cNvCxnSpPr>
            <a:cxnSpLocks/>
          </p:cNvCxnSpPr>
          <p:nvPr/>
        </p:nvCxnSpPr>
        <p:spPr>
          <a:xfrm>
            <a:off x="9351338" y="1805820"/>
            <a:ext cx="1663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B41D3B67-1AD8-461B-B168-9B62F42EE563}"/>
              </a:ext>
            </a:extLst>
          </p:cNvPr>
          <p:cNvSpPr/>
          <p:nvPr/>
        </p:nvSpPr>
        <p:spPr>
          <a:xfrm>
            <a:off x="2618179" y="4427774"/>
            <a:ext cx="905764" cy="369332"/>
          </a:xfrm>
          <a:prstGeom prst="roundRect">
            <a:avLst/>
          </a:prstGeom>
          <a:gradFill flip="none" rotWithShape="1">
            <a:gsLst>
              <a:gs pos="0">
                <a:srgbClr val="C0DCAE"/>
              </a:gs>
              <a:gs pos="100000">
                <a:srgbClr val="E5F0C9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Climate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63714793-7980-4F05-8757-4C6CD28B7A4F}"/>
              </a:ext>
            </a:extLst>
          </p:cNvPr>
          <p:cNvSpPr/>
          <p:nvPr/>
        </p:nvSpPr>
        <p:spPr>
          <a:xfrm>
            <a:off x="3997997" y="3850384"/>
            <a:ext cx="1707420" cy="415474"/>
          </a:xfrm>
          <a:prstGeom prst="roundRect">
            <a:avLst/>
          </a:prstGeom>
          <a:gradFill flip="none" rotWithShape="1">
            <a:gsLst>
              <a:gs pos="0">
                <a:srgbClr val="E9DAF3"/>
              </a:gs>
              <a:gs pos="100000">
                <a:srgbClr val="D8EFF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 temperature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C5BD8262-D30B-4994-8FFA-D8D56D034984}"/>
              </a:ext>
            </a:extLst>
          </p:cNvPr>
          <p:cNvSpPr/>
          <p:nvPr/>
        </p:nvSpPr>
        <p:spPr>
          <a:xfrm>
            <a:off x="3985789" y="4329435"/>
            <a:ext cx="1734242" cy="612107"/>
          </a:xfrm>
          <a:prstGeom prst="roundRect">
            <a:avLst/>
          </a:prstGeom>
          <a:gradFill flip="none" rotWithShape="1">
            <a:gsLst>
              <a:gs pos="0">
                <a:srgbClr val="F1DD97"/>
              </a:gs>
              <a:gs pos="100000">
                <a:srgbClr val="EFCCF5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pollution degree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1513FA46-E2D7-4758-BD8F-6056B4A9A853}"/>
              </a:ext>
            </a:extLst>
          </p:cNvPr>
          <p:cNvSpPr/>
          <p:nvPr/>
        </p:nvSpPr>
        <p:spPr>
          <a:xfrm>
            <a:off x="4030204" y="5016267"/>
            <a:ext cx="1689827" cy="525204"/>
          </a:xfrm>
          <a:prstGeom prst="roundRect">
            <a:avLst/>
          </a:prstGeom>
          <a:gradFill flip="none" rotWithShape="1">
            <a:gsLst>
              <a:gs pos="0">
                <a:srgbClr val="F7E8D1"/>
              </a:gs>
              <a:gs pos="100000">
                <a:srgbClr val="E9C16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stability of ecosystems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834DC0E3-5199-4B66-B39A-1072E9545E6E}"/>
              </a:ext>
            </a:extLst>
          </p:cNvPr>
          <p:cNvSpPr/>
          <p:nvPr/>
        </p:nvSpPr>
        <p:spPr>
          <a:xfrm>
            <a:off x="6178243" y="4373803"/>
            <a:ext cx="1196340" cy="606773"/>
          </a:xfrm>
          <a:prstGeom prst="roundRect">
            <a:avLst/>
          </a:prstGeom>
          <a:gradFill flip="none" rotWithShape="1">
            <a:gsLst>
              <a:gs pos="0">
                <a:srgbClr val="E9DAF3"/>
              </a:gs>
              <a:gs pos="100000">
                <a:srgbClr val="D8EFF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Trend prediction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19E1AE11-1151-4128-9F02-26AA56D41D82}"/>
              </a:ext>
            </a:extLst>
          </p:cNvPr>
          <p:cNvSpPr/>
          <p:nvPr/>
        </p:nvSpPr>
        <p:spPr>
          <a:xfrm>
            <a:off x="7786062" y="4271092"/>
            <a:ext cx="1366521" cy="812193"/>
          </a:xfrm>
          <a:prstGeom prst="roundRect">
            <a:avLst/>
          </a:prstGeom>
          <a:gradFill flip="none" rotWithShape="1">
            <a:gsLst>
              <a:gs pos="0">
                <a:srgbClr val="F1DD97"/>
              </a:gs>
              <a:gs pos="100000">
                <a:srgbClr val="EFCCF5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Strengths and weaknesses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E387BF33-7B50-402E-89B4-412FE83F5BD3}"/>
              </a:ext>
            </a:extLst>
          </p:cNvPr>
          <p:cNvSpPr/>
          <p:nvPr/>
        </p:nvSpPr>
        <p:spPr>
          <a:xfrm>
            <a:off x="9701564" y="4365573"/>
            <a:ext cx="898819" cy="615003"/>
          </a:xfrm>
          <a:prstGeom prst="roundRect">
            <a:avLst/>
          </a:prstGeom>
          <a:gradFill flip="none" rotWithShape="1">
            <a:gsLst>
              <a:gs pos="0">
                <a:srgbClr val="C0DCAE"/>
              </a:gs>
              <a:gs pos="100000">
                <a:srgbClr val="E5F0C9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Game </a:t>
            </a:r>
            <a:r>
              <a:rPr lang="en-US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thory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02BE521A-E221-40F0-9367-EF1D6BA9255E}"/>
              </a:ext>
            </a:extLst>
          </p:cNvPr>
          <p:cNvSpPr txBox="1"/>
          <p:nvPr/>
        </p:nvSpPr>
        <p:spPr>
          <a:xfrm>
            <a:off x="9074542" y="4122346"/>
            <a:ext cx="8229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Space</a:t>
            </a:r>
            <a:endParaRPr lang="zh-CN" altLang="en-US" sz="1600" b="1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507D2F1E-D802-4704-AFE3-186390B4B36C}"/>
              </a:ext>
            </a:extLst>
          </p:cNvPr>
          <p:cNvSpPr txBox="1"/>
          <p:nvPr/>
        </p:nvSpPr>
        <p:spPr>
          <a:xfrm>
            <a:off x="7228440" y="4091038"/>
            <a:ext cx="731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Time</a:t>
            </a:r>
            <a:endParaRPr lang="zh-CN" altLang="en-US" sz="1600" b="1" dirty="0"/>
          </a:p>
        </p:txBody>
      </p: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4B5CD17A-97E1-4B84-BD63-B10028F4751C}"/>
              </a:ext>
            </a:extLst>
          </p:cNvPr>
          <p:cNvCxnSpPr>
            <a:cxnSpLocks/>
          </p:cNvCxnSpPr>
          <p:nvPr/>
        </p:nvCxnSpPr>
        <p:spPr>
          <a:xfrm flipH="1">
            <a:off x="7387918" y="4667494"/>
            <a:ext cx="40207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A7074E05-4D18-43EC-8C97-D65270E6EE3A}"/>
              </a:ext>
            </a:extLst>
          </p:cNvPr>
          <p:cNvCxnSpPr>
            <a:cxnSpLocks/>
          </p:cNvCxnSpPr>
          <p:nvPr/>
        </p:nvCxnSpPr>
        <p:spPr>
          <a:xfrm flipV="1">
            <a:off x="9157919" y="4667494"/>
            <a:ext cx="543645" cy="969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矩形 72">
            <a:extLst>
              <a:ext uri="{FF2B5EF4-FFF2-40B4-BE49-F238E27FC236}">
                <a16:creationId xmlns:a16="http://schemas.microsoft.com/office/drawing/2014/main" id="{C00C860C-675B-4216-8805-3A4A1EB95992}"/>
              </a:ext>
            </a:extLst>
          </p:cNvPr>
          <p:cNvSpPr/>
          <p:nvPr/>
        </p:nvSpPr>
        <p:spPr>
          <a:xfrm>
            <a:off x="250755" y="551793"/>
            <a:ext cx="10374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23,F</a:t>
            </a:r>
          </a:p>
          <a:p>
            <a:r>
              <a:rPr lang="zh-CN" altLang="en-US" dirty="0"/>
              <a:t>2311258</a:t>
            </a:r>
          </a:p>
        </p:txBody>
      </p:sp>
    </p:spTree>
    <p:extLst>
      <p:ext uri="{BB962C8B-B14F-4D97-AF65-F5344CB8AC3E}">
        <p14:creationId xmlns:p14="http://schemas.microsoft.com/office/powerpoint/2010/main" val="3078199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DADE920A-9FB5-4D8E-9586-FAAE1664E2A1}"/>
              </a:ext>
            </a:extLst>
          </p:cNvPr>
          <p:cNvSpPr/>
          <p:nvPr/>
        </p:nvSpPr>
        <p:spPr>
          <a:xfrm>
            <a:off x="162560" y="1198880"/>
            <a:ext cx="7874000" cy="2438400"/>
          </a:xfrm>
          <a:prstGeom prst="rect">
            <a:avLst/>
          </a:prstGeom>
          <a:solidFill>
            <a:srgbClr val="F5FFF5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2FF7FB5-3824-4900-8A91-75B3AF286AE5}"/>
              </a:ext>
            </a:extLst>
          </p:cNvPr>
          <p:cNvSpPr/>
          <p:nvPr/>
        </p:nvSpPr>
        <p:spPr>
          <a:xfrm>
            <a:off x="162560" y="3968762"/>
            <a:ext cx="2479040" cy="2564118"/>
          </a:xfrm>
          <a:prstGeom prst="rect">
            <a:avLst/>
          </a:prstGeom>
          <a:solidFill>
            <a:srgbClr val="E5FCFF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7CB3A74-419D-4F45-A288-9C8C582041DC}"/>
              </a:ext>
            </a:extLst>
          </p:cNvPr>
          <p:cNvSpPr/>
          <p:nvPr/>
        </p:nvSpPr>
        <p:spPr>
          <a:xfrm>
            <a:off x="2860040" y="3968762"/>
            <a:ext cx="2479040" cy="2564118"/>
          </a:xfrm>
          <a:prstGeom prst="rect">
            <a:avLst/>
          </a:prstGeom>
          <a:solidFill>
            <a:srgbClr val="EDF7FF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4EA4968-9F5C-4E1C-8F55-2D86483B1C8C}"/>
              </a:ext>
            </a:extLst>
          </p:cNvPr>
          <p:cNvSpPr/>
          <p:nvPr/>
        </p:nvSpPr>
        <p:spPr>
          <a:xfrm>
            <a:off x="5557520" y="3968762"/>
            <a:ext cx="2479040" cy="2564118"/>
          </a:xfrm>
          <a:prstGeom prst="rect">
            <a:avLst/>
          </a:prstGeom>
          <a:solidFill>
            <a:srgbClr val="FCF1E0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E132B8B-05C1-4695-8C00-17E7F8A75D97}"/>
              </a:ext>
            </a:extLst>
          </p:cNvPr>
          <p:cNvSpPr/>
          <p:nvPr/>
        </p:nvSpPr>
        <p:spPr>
          <a:xfrm>
            <a:off x="8275320" y="1196980"/>
            <a:ext cx="3662680" cy="5335899"/>
          </a:xfrm>
          <a:prstGeom prst="rect">
            <a:avLst/>
          </a:prstGeom>
          <a:solidFill>
            <a:srgbClr val="EDF7FF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EC42AB7-C37E-44DE-B71D-5F05673BBA61}"/>
              </a:ext>
            </a:extLst>
          </p:cNvPr>
          <p:cNvSpPr txBox="1"/>
          <p:nvPr/>
        </p:nvSpPr>
        <p:spPr>
          <a:xfrm>
            <a:off x="243840" y="1196980"/>
            <a:ext cx="184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Step1:Assessment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947EA55-4C02-4D4D-A5E9-3E324BCC02A4}"/>
              </a:ext>
            </a:extLst>
          </p:cNvPr>
          <p:cNvSpPr txBox="1"/>
          <p:nvPr/>
        </p:nvSpPr>
        <p:spPr>
          <a:xfrm>
            <a:off x="243840" y="1449117"/>
            <a:ext cx="3947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(DAS Maturity Assessment Model)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C81DA5E-D527-4D2A-A6D8-80837BC74185}"/>
              </a:ext>
            </a:extLst>
          </p:cNvPr>
          <p:cNvSpPr txBox="1"/>
          <p:nvPr/>
        </p:nvSpPr>
        <p:spPr>
          <a:xfrm>
            <a:off x="8366760" y="1207140"/>
            <a:ext cx="184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Step2:Optimiza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4C8D4C9-FC00-4F94-8943-0BFE33B632FF}"/>
              </a:ext>
            </a:extLst>
          </p:cNvPr>
          <p:cNvSpPr txBox="1"/>
          <p:nvPr/>
        </p:nvSpPr>
        <p:spPr>
          <a:xfrm>
            <a:off x="8366760" y="1459277"/>
            <a:ext cx="3947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(VOM Model)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5015088-2678-499F-8BF5-284E21B3E6EB}"/>
              </a:ext>
            </a:extLst>
          </p:cNvPr>
          <p:cNvSpPr txBox="1"/>
          <p:nvPr/>
        </p:nvSpPr>
        <p:spPr>
          <a:xfrm>
            <a:off x="5577840" y="4009402"/>
            <a:ext cx="184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Step3:Protocols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6EEF6AF-E269-45DA-893A-C0D5822C3E06}"/>
              </a:ext>
            </a:extLst>
          </p:cNvPr>
          <p:cNvSpPr txBox="1"/>
          <p:nvPr/>
        </p:nvSpPr>
        <p:spPr>
          <a:xfrm>
            <a:off x="2814320" y="4019828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Step4:Model Extension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2CCC1DE-D86C-4C05-A097-D6B98621D933}"/>
              </a:ext>
            </a:extLst>
          </p:cNvPr>
          <p:cNvSpPr txBox="1"/>
          <p:nvPr/>
        </p:nvSpPr>
        <p:spPr>
          <a:xfrm>
            <a:off x="203200" y="4019828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Step5:One-page Letter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0FEC4DE-C1AF-4801-A1DF-3C6B23BE2BFE}"/>
              </a:ext>
            </a:extLst>
          </p:cNvPr>
          <p:cNvSpPr/>
          <p:nvPr/>
        </p:nvSpPr>
        <p:spPr>
          <a:xfrm>
            <a:off x="918210" y="1877824"/>
            <a:ext cx="1219200" cy="499110"/>
          </a:xfrm>
          <a:prstGeom prst="rect">
            <a:avLst/>
          </a:prstGeom>
          <a:solidFill>
            <a:srgbClr val="FCE5E8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IR,WE,WQ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014D596-5F3E-4067-A681-0A26CDFDBCC7}"/>
              </a:ext>
            </a:extLst>
          </p:cNvPr>
          <p:cNvSpPr/>
          <p:nvPr/>
        </p:nvSpPr>
        <p:spPr>
          <a:xfrm>
            <a:off x="918210" y="2462920"/>
            <a:ext cx="1219200" cy="499110"/>
          </a:xfrm>
          <a:prstGeom prst="rect">
            <a:avLst/>
          </a:prstGeom>
          <a:solidFill>
            <a:srgbClr val="FCE5E8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SA,CA,Rob,DPC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64A52A7-6410-4D5C-B031-9475179ED5B9}"/>
              </a:ext>
            </a:extLst>
          </p:cNvPr>
          <p:cNvSpPr/>
          <p:nvPr/>
        </p:nvSpPr>
        <p:spPr>
          <a:xfrm>
            <a:off x="918210" y="3043957"/>
            <a:ext cx="1219200" cy="499110"/>
          </a:xfrm>
          <a:prstGeom prst="rect">
            <a:avLst/>
          </a:prstGeom>
          <a:solidFill>
            <a:srgbClr val="FCE5E8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MC,DS,DQ,DPE,DACSR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521B846E-D6A6-4653-B626-8908EB337605}"/>
              </a:ext>
            </a:extLst>
          </p:cNvPr>
          <p:cNvCxnSpPr>
            <a:stCxn id="17" idx="3"/>
          </p:cNvCxnSpPr>
          <p:nvPr/>
        </p:nvCxnSpPr>
        <p:spPr>
          <a:xfrm>
            <a:off x="2137410" y="2127379"/>
            <a:ext cx="381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1FE0C772-4872-4335-A1D9-65267C7A990B}"/>
              </a:ext>
            </a:extLst>
          </p:cNvPr>
          <p:cNvCxnSpPr/>
          <p:nvPr/>
        </p:nvCxnSpPr>
        <p:spPr>
          <a:xfrm>
            <a:off x="2141220" y="2721494"/>
            <a:ext cx="381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0564E167-A4EC-4908-A756-BFAE90D33B15}"/>
              </a:ext>
            </a:extLst>
          </p:cNvPr>
          <p:cNvCxnSpPr/>
          <p:nvPr/>
        </p:nvCxnSpPr>
        <p:spPr>
          <a:xfrm>
            <a:off x="2137410" y="3293512"/>
            <a:ext cx="381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E5404AF-6582-4F32-838E-A832407B08BE}"/>
              </a:ext>
            </a:extLst>
          </p:cNvPr>
          <p:cNvSpPr/>
          <p:nvPr/>
        </p:nvSpPr>
        <p:spPr>
          <a:xfrm>
            <a:off x="2518410" y="1877828"/>
            <a:ext cx="975360" cy="499106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People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63A75741-A2C4-4CC8-A88C-4D487F94E18D}"/>
              </a:ext>
            </a:extLst>
          </p:cNvPr>
          <p:cNvSpPr/>
          <p:nvPr/>
        </p:nvSpPr>
        <p:spPr>
          <a:xfrm>
            <a:off x="2526030" y="2471941"/>
            <a:ext cx="975360" cy="499106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E60FD74C-9067-44A8-986A-D122E643512F}"/>
              </a:ext>
            </a:extLst>
          </p:cNvPr>
          <p:cNvSpPr/>
          <p:nvPr/>
        </p:nvSpPr>
        <p:spPr>
          <a:xfrm>
            <a:off x="2526030" y="3038000"/>
            <a:ext cx="975360" cy="499106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0F4C8BD7-50CD-4A3E-A8B4-28D6E1AF60B9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3493770" y="2127381"/>
            <a:ext cx="381000" cy="57913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6A97075A-8580-4EA4-976C-C5BBA1227359}"/>
              </a:ext>
            </a:extLst>
          </p:cNvPr>
          <p:cNvCxnSpPr>
            <a:cxnSpLocks/>
            <a:stCxn id="27" idx="3"/>
          </p:cNvCxnSpPr>
          <p:nvPr/>
        </p:nvCxnSpPr>
        <p:spPr>
          <a:xfrm flipV="1">
            <a:off x="3501390" y="2706518"/>
            <a:ext cx="373380" cy="5810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2212675A-D4B0-4418-AA69-6B8A115A7718}"/>
              </a:ext>
            </a:extLst>
          </p:cNvPr>
          <p:cNvCxnSpPr>
            <a:cxnSpLocks/>
            <a:stCxn id="25" idx="3"/>
          </p:cNvCxnSpPr>
          <p:nvPr/>
        </p:nvCxnSpPr>
        <p:spPr>
          <a:xfrm flipV="1">
            <a:off x="3501390" y="2706518"/>
            <a:ext cx="2056130" cy="1497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E9A4C972-3ACC-482A-A9D5-F5CA8C321258}"/>
              </a:ext>
            </a:extLst>
          </p:cNvPr>
          <p:cNvSpPr/>
          <p:nvPr/>
        </p:nvSpPr>
        <p:spPr>
          <a:xfrm>
            <a:off x="3997325" y="2161199"/>
            <a:ext cx="1186815" cy="499106"/>
          </a:xfrm>
          <a:prstGeom prst="rect">
            <a:avLst/>
          </a:prstGeom>
          <a:solidFill>
            <a:srgbClr val="FBF4F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FESM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30D4BC9-4D14-4A6E-83B2-B99B208E0F9E}"/>
              </a:ext>
            </a:extLst>
          </p:cNvPr>
          <p:cNvSpPr/>
          <p:nvPr/>
        </p:nvSpPr>
        <p:spPr>
          <a:xfrm>
            <a:off x="3997325" y="2767707"/>
            <a:ext cx="1186815" cy="499106"/>
          </a:xfrm>
          <a:prstGeom prst="rect">
            <a:avLst/>
          </a:prstGeom>
          <a:solidFill>
            <a:srgbClr val="FBF4F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EWM-AHP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138E930-E64B-4890-BD42-E7BA4914274A}"/>
              </a:ext>
            </a:extLst>
          </p:cNvPr>
          <p:cNvSpPr/>
          <p:nvPr/>
        </p:nvSpPr>
        <p:spPr>
          <a:xfrm>
            <a:off x="5565140" y="2514046"/>
            <a:ext cx="1715008" cy="414896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 of Maturity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22DBB6AD-6F9E-42EE-AD9A-35ECEE29EE37}"/>
              </a:ext>
            </a:extLst>
          </p:cNvPr>
          <p:cNvSpPr/>
          <p:nvPr/>
        </p:nvSpPr>
        <p:spPr>
          <a:xfrm>
            <a:off x="8693762" y="1876671"/>
            <a:ext cx="2771797" cy="366914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x:The Performance of People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4C8BA784-1877-4B3A-A9DE-9A50C4B31C47}"/>
              </a:ext>
            </a:extLst>
          </p:cNvPr>
          <p:cNvSpPr/>
          <p:nvPr/>
        </p:nvSpPr>
        <p:spPr>
          <a:xfrm>
            <a:off x="8693762" y="2345125"/>
            <a:ext cx="2771797" cy="366914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y:The Performance of Tech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B389BE91-7508-4FC7-9CF7-DDF8C0F8A880}"/>
              </a:ext>
            </a:extLst>
          </p:cNvPr>
          <p:cNvSpPr/>
          <p:nvPr/>
        </p:nvSpPr>
        <p:spPr>
          <a:xfrm>
            <a:off x="8693762" y="2813578"/>
            <a:ext cx="2771797" cy="366914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z:The Performance of Process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B7B0C733-704C-4708-BC32-24B846DC039C}"/>
              </a:ext>
            </a:extLst>
          </p:cNvPr>
          <p:cNvCxnSpPr/>
          <p:nvPr/>
        </p:nvCxnSpPr>
        <p:spPr>
          <a:xfrm>
            <a:off x="7985760" y="2573785"/>
            <a:ext cx="381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>
            <a:extLst>
              <a:ext uri="{FF2B5EF4-FFF2-40B4-BE49-F238E27FC236}">
                <a16:creationId xmlns:a16="http://schemas.microsoft.com/office/drawing/2014/main" id="{2EFC46D8-E090-4D7E-A059-6D35197B7DF5}"/>
              </a:ext>
            </a:extLst>
          </p:cNvPr>
          <p:cNvSpPr/>
          <p:nvPr/>
        </p:nvSpPr>
        <p:spPr>
          <a:xfrm>
            <a:off x="8641080" y="3287553"/>
            <a:ext cx="2824479" cy="189785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F901A71B-6C1E-45BB-A905-EFC50D4E0548}"/>
              </a:ext>
            </a:extLst>
          </p:cNvPr>
          <p:cNvCxnSpPr>
            <a:cxnSpLocks/>
          </p:cNvCxnSpPr>
          <p:nvPr/>
        </p:nvCxnSpPr>
        <p:spPr>
          <a:xfrm>
            <a:off x="9834880" y="4292095"/>
            <a:ext cx="124079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D5F35B58-FE05-456D-A6B5-04E2F705CA54}"/>
              </a:ext>
            </a:extLst>
          </p:cNvPr>
          <p:cNvSpPr txBox="1"/>
          <p:nvPr/>
        </p:nvSpPr>
        <p:spPr>
          <a:xfrm>
            <a:off x="10921365" y="3918953"/>
            <a:ext cx="295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</a:rPr>
              <a:t>y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F2BBCB8C-93A6-4C14-A910-2BA54E7C3B08}"/>
              </a:ext>
            </a:extLst>
          </p:cNvPr>
          <p:cNvCxnSpPr>
            <a:cxnSpLocks/>
          </p:cNvCxnSpPr>
          <p:nvPr/>
        </p:nvCxnSpPr>
        <p:spPr>
          <a:xfrm flipV="1">
            <a:off x="9834880" y="3429000"/>
            <a:ext cx="0" cy="859285"/>
          </a:xfrm>
          <a:prstGeom prst="straightConnector1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A16EB417-FED9-48E4-ADB8-C30535A0368B}"/>
              </a:ext>
            </a:extLst>
          </p:cNvPr>
          <p:cNvSpPr txBox="1"/>
          <p:nvPr/>
        </p:nvSpPr>
        <p:spPr>
          <a:xfrm>
            <a:off x="9518015" y="3352440"/>
            <a:ext cx="295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4">
                    <a:lumMod val="75000"/>
                  </a:schemeClr>
                </a:solidFill>
              </a:rPr>
              <a:t>z</a:t>
            </a:r>
            <a:endParaRPr lang="zh-CN" altLang="en-US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B116EF39-31FB-4AB1-98DC-40D288C8BE49}"/>
              </a:ext>
            </a:extLst>
          </p:cNvPr>
          <p:cNvCxnSpPr>
            <a:cxnSpLocks/>
          </p:cNvCxnSpPr>
          <p:nvPr/>
        </p:nvCxnSpPr>
        <p:spPr>
          <a:xfrm flipH="1">
            <a:off x="9396095" y="4288285"/>
            <a:ext cx="438785" cy="716531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01A8E680-9A4E-4674-B62B-693AED6B7298}"/>
              </a:ext>
            </a:extLst>
          </p:cNvPr>
          <p:cNvSpPr txBox="1"/>
          <p:nvPr/>
        </p:nvSpPr>
        <p:spPr>
          <a:xfrm>
            <a:off x="9038336" y="4748424"/>
            <a:ext cx="295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70C0"/>
                </a:solidFill>
              </a:rPr>
              <a:t>x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56" name="箭头: 下 55">
            <a:extLst>
              <a:ext uri="{FF2B5EF4-FFF2-40B4-BE49-F238E27FC236}">
                <a16:creationId xmlns:a16="http://schemas.microsoft.com/office/drawing/2014/main" id="{E65B3A81-344B-426C-986A-9C8052F2847E}"/>
              </a:ext>
            </a:extLst>
          </p:cNvPr>
          <p:cNvSpPr/>
          <p:nvPr/>
        </p:nvSpPr>
        <p:spPr>
          <a:xfrm>
            <a:off x="9924891" y="5163299"/>
            <a:ext cx="363538" cy="262411"/>
          </a:xfrm>
          <a:prstGeom prst="downArrow">
            <a:avLst/>
          </a:prstGeom>
          <a:solidFill>
            <a:srgbClr val="B2EBF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4143B656-B039-473E-930B-3A1A617D24C6}"/>
              </a:ext>
            </a:extLst>
          </p:cNvPr>
          <p:cNvSpPr/>
          <p:nvPr/>
        </p:nvSpPr>
        <p:spPr>
          <a:xfrm>
            <a:off x="9038336" y="5477393"/>
            <a:ext cx="2037334" cy="708749"/>
          </a:xfrm>
          <a:prstGeom prst="rect">
            <a:avLst/>
          </a:prstGeom>
          <a:solidFill>
            <a:srgbClr val="FEF5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Optimizing Proposal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F8FB559D-1A50-410E-B453-FDD1B7634146}"/>
              </a:ext>
            </a:extLst>
          </p:cNvPr>
          <p:cNvSpPr/>
          <p:nvPr/>
        </p:nvSpPr>
        <p:spPr>
          <a:xfrm>
            <a:off x="5880608" y="4503872"/>
            <a:ext cx="1715008" cy="746949"/>
          </a:xfrm>
          <a:prstGeom prst="rect">
            <a:avLst/>
          </a:prstGeom>
          <a:solidFill>
            <a:srgbClr val="F5FFF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</a:t>
            </a:r>
            <a:r>
              <a:rPr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Insteuctions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model using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0D89821C-66D3-40EC-AA4A-51DD18E70A88}"/>
              </a:ext>
            </a:extLst>
          </p:cNvPr>
          <p:cNvSpPr/>
          <p:nvPr/>
        </p:nvSpPr>
        <p:spPr>
          <a:xfrm>
            <a:off x="5880608" y="5477393"/>
            <a:ext cx="1715008" cy="746949"/>
          </a:xfrm>
          <a:prstGeom prst="rect">
            <a:avLst/>
          </a:prstGeom>
          <a:solidFill>
            <a:srgbClr val="F5FFF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by Flowcharts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箭头: 下 59">
            <a:extLst>
              <a:ext uri="{FF2B5EF4-FFF2-40B4-BE49-F238E27FC236}">
                <a16:creationId xmlns:a16="http://schemas.microsoft.com/office/drawing/2014/main" id="{43D89D82-A6DC-4924-A631-CD46689DC4B0}"/>
              </a:ext>
            </a:extLst>
          </p:cNvPr>
          <p:cNvSpPr/>
          <p:nvPr/>
        </p:nvSpPr>
        <p:spPr>
          <a:xfrm>
            <a:off x="6556343" y="5247910"/>
            <a:ext cx="363538" cy="229483"/>
          </a:xfrm>
          <a:prstGeom prst="down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34070D81-FCD0-49ED-B14D-66FD54DB881B}"/>
              </a:ext>
            </a:extLst>
          </p:cNvPr>
          <p:cNvCxnSpPr>
            <a:cxnSpLocks/>
          </p:cNvCxnSpPr>
          <p:nvPr/>
        </p:nvCxnSpPr>
        <p:spPr>
          <a:xfrm flipH="1">
            <a:off x="7948318" y="5247910"/>
            <a:ext cx="41844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2567A057-5476-48E7-9717-3CBFFC5C71A5}"/>
              </a:ext>
            </a:extLst>
          </p:cNvPr>
          <p:cNvCxnSpPr>
            <a:cxnSpLocks/>
          </p:cNvCxnSpPr>
          <p:nvPr/>
        </p:nvCxnSpPr>
        <p:spPr>
          <a:xfrm flipH="1">
            <a:off x="5225438" y="5247910"/>
            <a:ext cx="41844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>
            <a:extLst>
              <a:ext uri="{FF2B5EF4-FFF2-40B4-BE49-F238E27FC236}">
                <a16:creationId xmlns:a16="http://schemas.microsoft.com/office/drawing/2014/main" id="{996ADEA3-3DFE-4DBA-B13D-BA4C32078D62}"/>
              </a:ext>
            </a:extLst>
          </p:cNvPr>
          <p:cNvSpPr/>
          <p:nvPr/>
        </p:nvSpPr>
        <p:spPr>
          <a:xfrm>
            <a:off x="3032124" y="4511891"/>
            <a:ext cx="2134871" cy="746949"/>
          </a:xfrm>
          <a:prstGeom prst="rect">
            <a:avLst/>
          </a:prstGeom>
          <a:solidFill>
            <a:srgbClr val="FEF5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Scale-Demand Method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5177AF83-3E78-4C04-9A09-3A0B17D98E79}"/>
              </a:ext>
            </a:extLst>
          </p:cNvPr>
          <p:cNvSpPr/>
          <p:nvPr/>
        </p:nvSpPr>
        <p:spPr>
          <a:xfrm>
            <a:off x="3044364" y="5477393"/>
            <a:ext cx="1019398" cy="746949"/>
          </a:xfrm>
          <a:prstGeom prst="rect">
            <a:avLst/>
          </a:prstGeom>
          <a:solidFill>
            <a:srgbClr val="FEF5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Different Scales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C50B597B-0974-4F41-90C1-63DCE0BBD2D6}"/>
              </a:ext>
            </a:extLst>
          </p:cNvPr>
          <p:cNvSpPr/>
          <p:nvPr/>
        </p:nvSpPr>
        <p:spPr>
          <a:xfrm>
            <a:off x="4160265" y="5473822"/>
            <a:ext cx="1019398" cy="746949"/>
          </a:xfrm>
          <a:prstGeom prst="rect">
            <a:avLst/>
          </a:prstGeom>
          <a:solidFill>
            <a:srgbClr val="FEF5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Different Industries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577E92D3-87DA-4392-ABF3-1D124A9D39FE}"/>
              </a:ext>
            </a:extLst>
          </p:cNvPr>
          <p:cNvCxnSpPr>
            <a:cxnSpLocks/>
          </p:cNvCxnSpPr>
          <p:nvPr/>
        </p:nvCxnSpPr>
        <p:spPr>
          <a:xfrm flipH="1">
            <a:off x="3586134" y="5258840"/>
            <a:ext cx="513426" cy="21498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9847C5A8-2125-4077-8244-E0AE20D1DE4C}"/>
              </a:ext>
            </a:extLst>
          </p:cNvPr>
          <p:cNvCxnSpPr>
            <a:cxnSpLocks/>
            <a:endCxn id="66" idx="0"/>
          </p:cNvCxnSpPr>
          <p:nvPr/>
        </p:nvCxnSpPr>
        <p:spPr>
          <a:xfrm>
            <a:off x="4124468" y="5262411"/>
            <a:ext cx="545496" cy="21141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73C90F05-98D5-4319-B9A9-381764F1EF1E}"/>
              </a:ext>
            </a:extLst>
          </p:cNvPr>
          <p:cNvCxnSpPr>
            <a:cxnSpLocks/>
          </p:cNvCxnSpPr>
          <p:nvPr/>
        </p:nvCxnSpPr>
        <p:spPr>
          <a:xfrm flipH="1">
            <a:off x="2560320" y="5233083"/>
            <a:ext cx="36700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 74">
            <a:extLst>
              <a:ext uri="{FF2B5EF4-FFF2-40B4-BE49-F238E27FC236}">
                <a16:creationId xmlns:a16="http://schemas.microsoft.com/office/drawing/2014/main" id="{056A6756-441C-4B58-8E3C-FADD8797FF7A}"/>
              </a:ext>
            </a:extLst>
          </p:cNvPr>
          <p:cNvSpPr/>
          <p:nvPr/>
        </p:nvSpPr>
        <p:spPr>
          <a:xfrm>
            <a:off x="232079" y="4933090"/>
            <a:ext cx="1074391" cy="746949"/>
          </a:xfrm>
          <a:prstGeom prst="rect">
            <a:avLst/>
          </a:prstGeom>
          <a:solidFill>
            <a:srgbClr val="FFF4E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Letter to Post Users 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6C795293-6C2E-4F8B-8838-1A5BD1CF6BA3}"/>
              </a:ext>
            </a:extLst>
          </p:cNvPr>
          <p:cNvSpPr/>
          <p:nvPr/>
        </p:nvSpPr>
        <p:spPr>
          <a:xfrm>
            <a:off x="1421736" y="4611004"/>
            <a:ext cx="1074391" cy="746949"/>
          </a:xfrm>
          <a:prstGeom prst="rect">
            <a:avLst/>
          </a:prstGeom>
          <a:solidFill>
            <a:srgbClr val="FFF4E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Assessment model instruction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69E34AAA-C844-487A-9C19-EED19DAA354C}"/>
              </a:ext>
            </a:extLst>
          </p:cNvPr>
          <p:cNvSpPr/>
          <p:nvPr/>
        </p:nvSpPr>
        <p:spPr>
          <a:xfrm>
            <a:off x="1431119" y="5527845"/>
            <a:ext cx="1074391" cy="746949"/>
          </a:xfrm>
          <a:prstGeom prst="rect">
            <a:avLst/>
          </a:prstGeom>
          <a:solidFill>
            <a:srgbClr val="FFF4E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Instilling confidence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9AE10FD1-B5F6-4402-99F3-0D527CC7E56E}"/>
              </a:ext>
            </a:extLst>
          </p:cNvPr>
          <p:cNvCxnSpPr>
            <a:cxnSpLocks/>
          </p:cNvCxnSpPr>
          <p:nvPr/>
        </p:nvCxnSpPr>
        <p:spPr>
          <a:xfrm flipH="1">
            <a:off x="1323045" y="4808542"/>
            <a:ext cx="77428" cy="4859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6A84C862-959F-4C9F-ABDE-A3B8A7BC32D1}"/>
              </a:ext>
            </a:extLst>
          </p:cNvPr>
          <p:cNvCxnSpPr>
            <a:cxnSpLocks/>
            <a:endCxn id="75" idx="3"/>
          </p:cNvCxnSpPr>
          <p:nvPr/>
        </p:nvCxnSpPr>
        <p:spPr>
          <a:xfrm flipH="1" flipV="1">
            <a:off x="1306470" y="5306565"/>
            <a:ext cx="113018" cy="69037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矩形 82">
            <a:extLst>
              <a:ext uri="{FF2B5EF4-FFF2-40B4-BE49-F238E27FC236}">
                <a16:creationId xmlns:a16="http://schemas.microsoft.com/office/drawing/2014/main" id="{2F736A3D-BE7A-4632-9FFB-27E4EBFB8FB3}"/>
              </a:ext>
            </a:extLst>
          </p:cNvPr>
          <p:cNvSpPr/>
          <p:nvPr/>
        </p:nvSpPr>
        <p:spPr>
          <a:xfrm>
            <a:off x="147005" y="160938"/>
            <a:ext cx="15424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22D,2208928.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9193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B84F3488-5FE7-49A9-9C3C-0663167AA7D7}"/>
              </a:ext>
            </a:extLst>
          </p:cNvPr>
          <p:cNvCxnSpPr/>
          <p:nvPr/>
        </p:nvCxnSpPr>
        <p:spPr>
          <a:xfrm>
            <a:off x="5442444" y="563376"/>
            <a:ext cx="40524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4055F4CF-4A54-47C2-BEB9-EDA754E4919D}"/>
              </a:ext>
            </a:extLst>
          </p:cNvPr>
          <p:cNvCxnSpPr/>
          <p:nvPr/>
        </p:nvCxnSpPr>
        <p:spPr>
          <a:xfrm>
            <a:off x="6389234" y="535628"/>
            <a:ext cx="405245" cy="0"/>
          </a:xfrm>
          <a:prstGeom prst="straightConnector1">
            <a:avLst/>
          </a:prstGeom>
          <a:ln w="28575">
            <a:solidFill>
              <a:srgbClr val="8497B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63396FA4-DD41-4371-889E-2D8A0BB9202C}"/>
              </a:ext>
            </a:extLst>
          </p:cNvPr>
          <p:cNvSpPr/>
          <p:nvPr/>
        </p:nvSpPr>
        <p:spPr>
          <a:xfrm>
            <a:off x="2538763" y="336937"/>
            <a:ext cx="1039092" cy="561109"/>
          </a:xfrm>
          <a:prstGeom prst="roundRect">
            <a:avLst/>
          </a:prstGeom>
          <a:solidFill>
            <a:srgbClr val="9DC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5447"/>
              </a:solidFill>
            </a:endParaRPr>
          </a:p>
        </p:txBody>
      </p: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EDBD3993-E7C8-46A9-B8E7-FB7E9DC03DDE}"/>
              </a:ext>
            </a:extLst>
          </p:cNvPr>
          <p:cNvGrpSpPr/>
          <p:nvPr/>
        </p:nvGrpSpPr>
        <p:grpSpPr>
          <a:xfrm>
            <a:off x="6968075" y="204546"/>
            <a:ext cx="1368410" cy="738665"/>
            <a:chOff x="7061639" y="290406"/>
            <a:chExt cx="1368410" cy="738665"/>
          </a:xfrm>
        </p:grpSpPr>
        <p:sp>
          <p:nvSpPr>
            <p:cNvPr id="75" name="矩形: 圆角 74">
              <a:extLst>
                <a:ext uri="{FF2B5EF4-FFF2-40B4-BE49-F238E27FC236}">
                  <a16:creationId xmlns:a16="http://schemas.microsoft.com/office/drawing/2014/main" id="{2B21B280-B2A1-4314-8F67-C298560D529B}"/>
                </a:ext>
              </a:extLst>
            </p:cNvPr>
            <p:cNvSpPr/>
            <p:nvPr/>
          </p:nvSpPr>
          <p:spPr>
            <a:xfrm>
              <a:off x="7251402" y="336937"/>
              <a:ext cx="1021742" cy="692134"/>
            </a:xfrm>
            <a:prstGeom prst="round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23E2C095-F957-4FEE-B628-9B3F16406FE9}"/>
                </a:ext>
              </a:extLst>
            </p:cNvPr>
            <p:cNvSpPr txBox="1"/>
            <p:nvPr/>
          </p:nvSpPr>
          <p:spPr>
            <a:xfrm>
              <a:off x="7061639" y="290406"/>
              <a:ext cx="136841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rgbClr val="888484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Grey Correlation</a:t>
              </a:r>
            </a:p>
            <a:p>
              <a:pPr algn="ctr"/>
              <a:r>
                <a:rPr lang="en-US" altLang="zh-CN" sz="1400" b="1" dirty="0">
                  <a:solidFill>
                    <a:srgbClr val="888484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Analysis</a:t>
              </a:r>
              <a:endParaRPr lang="zh-CN" altLang="en-US" sz="1400" b="1" dirty="0">
                <a:solidFill>
                  <a:srgbClr val="888484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066B0C55-ACD9-4C5E-A75D-401EB447DB0E}"/>
              </a:ext>
            </a:extLst>
          </p:cNvPr>
          <p:cNvCxnSpPr>
            <a:cxnSpLocks/>
          </p:cNvCxnSpPr>
          <p:nvPr/>
        </p:nvCxnSpPr>
        <p:spPr>
          <a:xfrm flipV="1">
            <a:off x="8810877" y="471592"/>
            <a:ext cx="0" cy="194582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9B6F8244-E9CF-4A75-B620-61DD1F77A035}"/>
              </a:ext>
            </a:extLst>
          </p:cNvPr>
          <p:cNvGrpSpPr/>
          <p:nvPr/>
        </p:nvGrpSpPr>
        <p:grpSpPr>
          <a:xfrm>
            <a:off x="496094" y="436836"/>
            <a:ext cx="1735123" cy="369332"/>
            <a:chOff x="4757529" y="2793917"/>
            <a:chExt cx="1735123" cy="369332"/>
          </a:xfrm>
        </p:grpSpPr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23E4A72D-35FE-49D9-AC9A-1127BF33ECF7}"/>
                </a:ext>
              </a:extLst>
            </p:cNvPr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3975D44D-76BB-4187-8E1E-4C34D5934C51}"/>
                </a:ext>
              </a:extLst>
            </p:cNvPr>
            <p:cNvSpPr txBox="1"/>
            <p:nvPr/>
          </p:nvSpPr>
          <p:spPr>
            <a:xfrm>
              <a:off x="4757529" y="2811662"/>
              <a:ext cx="17303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Calibri" panose="020F0502020204030204" pitchFamily="34" charset="0"/>
                  <a:cs typeface="Calibri" panose="020F0502020204030204" pitchFamily="34" charset="0"/>
                </a:rPr>
                <a:t>Indicator selection</a:t>
              </a:r>
              <a:endParaRPr lang="zh-CN" altLang="en-US" sz="14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13" name="加号 112">
            <a:extLst>
              <a:ext uri="{FF2B5EF4-FFF2-40B4-BE49-F238E27FC236}">
                <a16:creationId xmlns:a16="http://schemas.microsoft.com/office/drawing/2014/main" id="{3ADCCD1F-99C1-43D4-B026-AA245CAB6C61}"/>
              </a:ext>
            </a:extLst>
          </p:cNvPr>
          <p:cNvSpPr/>
          <p:nvPr/>
        </p:nvSpPr>
        <p:spPr>
          <a:xfrm>
            <a:off x="9425081" y="505033"/>
            <a:ext cx="197529" cy="215348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E7ABD56-6EC7-43E4-8D19-F460204B777E}"/>
              </a:ext>
            </a:extLst>
          </p:cNvPr>
          <p:cNvSpPr/>
          <p:nvPr/>
        </p:nvSpPr>
        <p:spPr>
          <a:xfrm>
            <a:off x="201481" y="1836906"/>
            <a:ext cx="1039092" cy="56110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D47BE11-3292-4E6D-B7BF-7EB1FBAB958B}"/>
              </a:ext>
            </a:extLst>
          </p:cNvPr>
          <p:cNvSpPr/>
          <p:nvPr/>
        </p:nvSpPr>
        <p:spPr>
          <a:xfrm>
            <a:off x="201481" y="3427401"/>
            <a:ext cx="1039092" cy="56110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F91F8BB-F76E-4AEC-ADDC-73D2281BA2FD}"/>
              </a:ext>
            </a:extLst>
          </p:cNvPr>
          <p:cNvSpPr txBox="1"/>
          <p:nvPr/>
        </p:nvSpPr>
        <p:spPr>
          <a:xfrm>
            <a:off x="254843" y="3386141"/>
            <a:ext cx="934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Huskie team</a:t>
            </a:r>
            <a:endParaRPr lang="zh-CN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697B557-D104-440A-8455-70938E188990}"/>
              </a:ext>
            </a:extLst>
          </p:cNvPr>
          <p:cNvSpPr txBox="1"/>
          <p:nvPr/>
        </p:nvSpPr>
        <p:spPr>
          <a:xfrm>
            <a:off x="341963" y="1794294"/>
            <a:ext cx="758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Given</a:t>
            </a:r>
          </a:p>
          <a:p>
            <a:pPr algn="ctr"/>
            <a:r>
              <a:rPr lang="en-US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  <a:endParaRPr lang="zh-CN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DE02D2-713E-4116-8BED-48C189D634B0}"/>
              </a:ext>
            </a:extLst>
          </p:cNvPr>
          <p:cNvSpPr/>
          <p:nvPr/>
        </p:nvSpPr>
        <p:spPr>
          <a:xfrm>
            <a:off x="1438409" y="1888861"/>
            <a:ext cx="9645703" cy="3794776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25D66E2-5ADC-4DA2-A9BE-C481743C36C1}"/>
              </a:ext>
            </a:extLst>
          </p:cNvPr>
          <p:cNvSpPr/>
          <p:nvPr/>
        </p:nvSpPr>
        <p:spPr>
          <a:xfrm>
            <a:off x="11300199" y="1857079"/>
            <a:ext cx="739992" cy="1650424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01D212B-29C0-4898-B563-1B6C9FE082CF}"/>
              </a:ext>
            </a:extLst>
          </p:cNvPr>
          <p:cNvSpPr txBox="1"/>
          <p:nvPr/>
        </p:nvSpPr>
        <p:spPr>
          <a:xfrm>
            <a:off x="11182995" y="2129654"/>
            <a:ext cx="974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Target</a:t>
            </a:r>
          </a:p>
          <a:p>
            <a:pPr algn="ctr"/>
            <a:r>
              <a:rPr lang="en-US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</a:p>
          <a:p>
            <a:pPr algn="ctr"/>
            <a:r>
              <a:rPr lang="en-US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Action</a:t>
            </a:r>
            <a:endParaRPr lang="zh-CN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82784256-5E20-4D72-B2D9-FFC11107EEDB}"/>
              </a:ext>
            </a:extLst>
          </p:cNvPr>
          <p:cNvCxnSpPr/>
          <p:nvPr/>
        </p:nvCxnSpPr>
        <p:spPr>
          <a:xfrm>
            <a:off x="721027" y="2440625"/>
            <a:ext cx="0" cy="98677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991BF97D-DC98-4D99-9B0B-E67CDA99CDCC}"/>
              </a:ext>
            </a:extLst>
          </p:cNvPr>
          <p:cNvSpPr/>
          <p:nvPr/>
        </p:nvSpPr>
        <p:spPr>
          <a:xfrm>
            <a:off x="1645817" y="2096676"/>
            <a:ext cx="2401665" cy="2971518"/>
          </a:xfrm>
          <a:prstGeom prst="rect">
            <a:avLst/>
          </a:prstGeom>
          <a:noFill/>
          <a:ln w="28575">
            <a:solidFill>
              <a:srgbClr val="ACACA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9017431-BB79-42AF-931A-8AF98495EDA7}"/>
              </a:ext>
            </a:extLst>
          </p:cNvPr>
          <p:cNvSpPr/>
          <p:nvPr/>
        </p:nvSpPr>
        <p:spPr>
          <a:xfrm>
            <a:off x="4529445" y="2096676"/>
            <a:ext cx="3167949" cy="3488994"/>
          </a:xfrm>
          <a:prstGeom prst="rect">
            <a:avLst/>
          </a:prstGeom>
          <a:noFill/>
          <a:ln w="28575">
            <a:solidFill>
              <a:srgbClr val="ACACA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F83C29F-35AF-460F-84B4-908C30B8E3AA}"/>
              </a:ext>
            </a:extLst>
          </p:cNvPr>
          <p:cNvSpPr/>
          <p:nvPr/>
        </p:nvSpPr>
        <p:spPr>
          <a:xfrm>
            <a:off x="8175925" y="2096676"/>
            <a:ext cx="2751521" cy="1866210"/>
          </a:xfrm>
          <a:prstGeom prst="rect">
            <a:avLst/>
          </a:prstGeom>
          <a:noFill/>
          <a:ln w="28575">
            <a:solidFill>
              <a:srgbClr val="ACACA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2CD3FAA7-E22D-40ED-BFE0-9191CEA0071D}"/>
              </a:ext>
            </a:extLst>
          </p:cNvPr>
          <p:cNvCxnSpPr/>
          <p:nvPr/>
        </p:nvCxnSpPr>
        <p:spPr>
          <a:xfrm>
            <a:off x="1240573" y="3737758"/>
            <a:ext cx="40524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1947442C-6AF8-4262-B3C5-4703CBD37D35}"/>
              </a:ext>
            </a:extLst>
          </p:cNvPr>
          <p:cNvCxnSpPr/>
          <p:nvPr/>
        </p:nvCxnSpPr>
        <p:spPr>
          <a:xfrm>
            <a:off x="10927446" y="2591319"/>
            <a:ext cx="40524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9D4535E0-DF1B-4CE8-87D8-3E6422D10761}"/>
              </a:ext>
            </a:extLst>
          </p:cNvPr>
          <p:cNvCxnSpPr/>
          <p:nvPr/>
        </p:nvCxnSpPr>
        <p:spPr>
          <a:xfrm>
            <a:off x="4124200" y="2374260"/>
            <a:ext cx="405245" cy="0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6EBE51F0-FF40-40E8-BEFC-D2D7A05A50A6}"/>
              </a:ext>
            </a:extLst>
          </p:cNvPr>
          <p:cNvCxnSpPr/>
          <p:nvPr/>
        </p:nvCxnSpPr>
        <p:spPr>
          <a:xfrm>
            <a:off x="7746488" y="2374260"/>
            <a:ext cx="405245" cy="0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0749A799-9B1D-431A-9F47-2EC43A322FCF}"/>
              </a:ext>
            </a:extLst>
          </p:cNvPr>
          <p:cNvSpPr txBox="1"/>
          <p:nvPr/>
        </p:nvSpPr>
        <p:spPr>
          <a:xfrm>
            <a:off x="1587238" y="2148703"/>
            <a:ext cx="2536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TASK 1 </a:t>
            </a:r>
            <a:r>
              <a:rPr lang="en-US" altLang="zh-CN" b="1" i="1" dirty="0">
                <a:latin typeface="Calibri" panose="020F0502020204030204" pitchFamily="34" charset="0"/>
                <a:cs typeface="Calibri" panose="020F0502020204030204" pitchFamily="34" charset="0"/>
              </a:rPr>
              <a:t>Network analysis</a:t>
            </a:r>
            <a:endParaRPr lang="zh-CN" altLang="en-US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E7B1CE5-5B1F-4C05-9EC4-823DBD01160F}"/>
              </a:ext>
            </a:extLst>
          </p:cNvPr>
          <p:cNvSpPr txBox="1"/>
          <p:nvPr/>
        </p:nvSpPr>
        <p:spPr>
          <a:xfrm>
            <a:off x="4529445" y="2096023"/>
            <a:ext cx="3440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TASK 2 </a:t>
            </a:r>
            <a:r>
              <a:rPr lang="en-US" altLang="zh-CN" b="1" i="1" dirty="0">
                <a:latin typeface="Calibri" panose="020F0502020204030204" pitchFamily="34" charset="0"/>
                <a:cs typeface="Calibri" panose="020F0502020204030204" pitchFamily="34" charset="0"/>
              </a:rPr>
              <a:t>Determine performance cooperation indicators</a:t>
            </a:r>
            <a:endParaRPr lang="zh-CN" altLang="en-US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F28D9AD-7EE5-45C7-B95C-3926D4531C32}"/>
              </a:ext>
            </a:extLst>
          </p:cNvPr>
          <p:cNvSpPr txBox="1"/>
          <p:nvPr/>
        </p:nvSpPr>
        <p:spPr>
          <a:xfrm>
            <a:off x="8149711" y="2148703"/>
            <a:ext cx="2873762" cy="640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TASK 3 </a:t>
            </a:r>
            <a:r>
              <a:rPr lang="en-US" altLang="zh-CN" b="1" i="1" dirty="0">
                <a:latin typeface="Calibri" panose="020F0502020204030204" pitchFamily="34" charset="0"/>
                <a:cs typeface="Calibri" panose="020F0502020204030204" pitchFamily="34" charset="0"/>
              </a:rPr>
              <a:t>Team formation &amp; Training methods</a:t>
            </a:r>
            <a:endParaRPr lang="zh-CN" altLang="en-US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08149A9-56C7-4273-A564-04E0A1A94771}"/>
              </a:ext>
            </a:extLst>
          </p:cNvPr>
          <p:cNvSpPr/>
          <p:nvPr/>
        </p:nvSpPr>
        <p:spPr>
          <a:xfrm>
            <a:off x="1768963" y="2515500"/>
            <a:ext cx="2183142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800E40B-077C-4A1D-9D43-57ED81BE633A}"/>
              </a:ext>
            </a:extLst>
          </p:cNvPr>
          <p:cNvSpPr txBox="1"/>
          <p:nvPr/>
        </p:nvSpPr>
        <p:spPr>
          <a:xfrm>
            <a:off x="1951844" y="2543281"/>
            <a:ext cx="267079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b="1" dirty="0">
                <a:latin typeface="Calibri" panose="020F0502020204030204" pitchFamily="34" charset="0"/>
                <a:cs typeface="Calibri" panose="020F0502020204030204" pitchFamily="34" charset="0"/>
              </a:rPr>
              <a:t>Pass quality network</a:t>
            </a:r>
            <a:endParaRPr lang="zh-CN" altLang="en-US" sz="15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F2DC2142-4D49-41A1-93A6-FD49655A563F}"/>
              </a:ext>
            </a:extLst>
          </p:cNvPr>
          <p:cNvCxnSpPr>
            <a:cxnSpLocks/>
          </p:cNvCxnSpPr>
          <p:nvPr/>
        </p:nvCxnSpPr>
        <p:spPr>
          <a:xfrm>
            <a:off x="2409981" y="2896473"/>
            <a:ext cx="0" cy="213764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B221E867-D8A6-4DD8-A52A-18472D01F807}"/>
              </a:ext>
            </a:extLst>
          </p:cNvPr>
          <p:cNvSpPr/>
          <p:nvPr/>
        </p:nvSpPr>
        <p:spPr>
          <a:xfrm>
            <a:off x="1796613" y="3216466"/>
            <a:ext cx="1144125" cy="40424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056FF84-5F20-4384-9F94-2826923EF129}"/>
              </a:ext>
            </a:extLst>
          </p:cNvPr>
          <p:cNvSpPr txBox="1"/>
          <p:nvPr/>
        </p:nvSpPr>
        <p:spPr>
          <a:xfrm>
            <a:off x="1783386" y="3157782"/>
            <a:ext cx="118613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00" b="1" dirty="0">
                <a:latin typeface="Calibri" panose="020F0502020204030204" pitchFamily="34" charset="0"/>
                <a:cs typeface="Calibri" panose="020F0502020204030204" pitchFamily="34" charset="0"/>
              </a:rPr>
              <a:t>Dyadic Configurations</a:t>
            </a:r>
            <a:endParaRPr lang="zh-CN" altLang="en-US" sz="13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A44078D0-C588-4CE3-836B-CE79FD4626FF}"/>
              </a:ext>
            </a:extLst>
          </p:cNvPr>
          <p:cNvSpPr txBox="1"/>
          <p:nvPr/>
        </p:nvSpPr>
        <p:spPr>
          <a:xfrm>
            <a:off x="2376738" y="5210228"/>
            <a:ext cx="1363142" cy="3385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Calibri" panose="020F0502020204030204" pitchFamily="34" charset="0"/>
                <a:cs typeface="Calibri" panose="020F0502020204030204" pitchFamily="34" charset="0"/>
              </a:rPr>
              <a:t>fullevents.csv</a:t>
            </a:r>
            <a:endParaRPr lang="zh-CN" alt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6EDC3C70-6594-43AC-B136-FD2A43DACB1B}"/>
              </a:ext>
            </a:extLst>
          </p:cNvPr>
          <p:cNvCxnSpPr>
            <a:cxnSpLocks/>
          </p:cNvCxnSpPr>
          <p:nvPr/>
        </p:nvCxnSpPr>
        <p:spPr>
          <a:xfrm>
            <a:off x="3729689" y="5374223"/>
            <a:ext cx="81381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64D11AAF-CEEE-401A-99BA-E942082EBA3E}"/>
              </a:ext>
            </a:extLst>
          </p:cNvPr>
          <p:cNvGrpSpPr/>
          <p:nvPr/>
        </p:nvGrpSpPr>
        <p:grpSpPr>
          <a:xfrm>
            <a:off x="4941448" y="2740637"/>
            <a:ext cx="2995211" cy="369332"/>
            <a:chOff x="4823449" y="2793917"/>
            <a:chExt cx="2109204" cy="369332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9ADA0D94-BA69-4276-AD6F-09FF48718F95}"/>
                </a:ext>
              </a:extLst>
            </p:cNvPr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9E141FEB-6EA8-4A7F-9BF1-1EED1DD33F1D}"/>
                </a:ext>
              </a:extLst>
            </p:cNvPr>
            <p:cNvSpPr txBox="1"/>
            <p:nvPr/>
          </p:nvSpPr>
          <p:spPr>
            <a:xfrm>
              <a:off x="4959316" y="2799587"/>
              <a:ext cx="19733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Indicators determine</a:t>
              </a:r>
              <a:endParaRPr lang="zh-CN" altLang="en-US" sz="1400" b="1" dirty="0"/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E107CB59-4911-4D43-A20C-89817D4A9C2A}"/>
              </a:ext>
            </a:extLst>
          </p:cNvPr>
          <p:cNvGrpSpPr/>
          <p:nvPr/>
        </p:nvGrpSpPr>
        <p:grpSpPr>
          <a:xfrm>
            <a:off x="4825814" y="3326397"/>
            <a:ext cx="2581647" cy="535897"/>
            <a:chOff x="4675181" y="2793917"/>
            <a:chExt cx="2056430" cy="369332"/>
          </a:xfrm>
        </p:grpSpPr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1A2503B1-2B05-428F-9BE2-5FC34A4D24CD}"/>
                </a:ext>
              </a:extLst>
            </p:cNvPr>
            <p:cNvSpPr/>
            <p:nvPr/>
          </p:nvSpPr>
          <p:spPr>
            <a:xfrm>
              <a:off x="4823449" y="2793917"/>
              <a:ext cx="1803634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DDA5499A-2CDE-4050-AA63-136CF435F7CB}"/>
                </a:ext>
              </a:extLst>
            </p:cNvPr>
            <p:cNvSpPr txBox="1"/>
            <p:nvPr/>
          </p:nvSpPr>
          <p:spPr>
            <a:xfrm>
              <a:off x="4675181" y="2799176"/>
              <a:ext cx="2056430" cy="3605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/>
                <a:t>Quantification of performance indicators</a:t>
              </a:r>
              <a:endParaRPr lang="zh-CN" altLang="en-US" sz="1400" b="1" dirty="0"/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57F70623-FAA2-4C1D-8336-905E468D9D8A}"/>
              </a:ext>
            </a:extLst>
          </p:cNvPr>
          <p:cNvGrpSpPr/>
          <p:nvPr/>
        </p:nvGrpSpPr>
        <p:grpSpPr>
          <a:xfrm>
            <a:off x="4981538" y="4189947"/>
            <a:ext cx="1301015" cy="392160"/>
            <a:chOff x="7064372" y="336937"/>
            <a:chExt cx="1368410" cy="702504"/>
          </a:xfrm>
        </p:grpSpPr>
        <p:sp>
          <p:nvSpPr>
            <p:cNvPr id="80" name="矩形: 圆角 79">
              <a:extLst>
                <a:ext uri="{FF2B5EF4-FFF2-40B4-BE49-F238E27FC236}">
                  <a16:creationId xmlns:a16="http://schemas.microsoft.com/office/drawing/2014/main" id="{B9CCD7C0-04D0-4577-8DC8-0F4FE559DD91}"/>
                </a:ext>
              </a:extLst>
            </p:cNvPr>
            <p:cNvSpPr/>
            <p:nvPr/>
          </p:nvSpPr>
          <p:spPr>
            <a:xfrm>
              <a:off x="7251402" y="336937"/>
              <a:ext cx="1021742" cy="69213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5C5EC03F-307B-41C7-B96B-2CB4C327A145}"/>
                </a:ext>
              </a:extLst>
            </p:cNvPr>
            <p:cNvSpPr txBox="1"/>
            <p:nvPr/>
          </p:nvSpPr>
          <p:spPr>
            <a:xfrm>
              <a:off x="7064372" y="377830"/>
              <a:ext cx="1368410" cy="6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Topsis</a:t>
              </a:r>
              <a:endParaRPr lang="zh-CN" altLang="en-US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6D509176-CF3D-4665-A125-EDCC617991E3}"/>
              </a:ext>
            </a:extLst>
          </p:cNvPr>
          <p:cNvGrpSpPr/>
          <p:nvPr/>
        </p:nvGrpSpPr>
        <p:grpSpPr>
          <a:xfrm>
            <a:off x="6288832" y="4189947"/>
            <a:ext cx="894530" cy="409031"/>
            <a:chOff x="7150717" y="323715"/>
            <a:chExt cx="1368410" cy="752561"/>
          </a:xfrm>
        </p:grpSpPr>
        <p:sp>
          <p:nvSpPr>
            <p:cNvPr id="83" name="矩形: 圆角 82">
              <a:extLst>
                <a:ext uri="{FF2B5EF4-FFF2-40B4-BE49-F238E27FC236}">
                  <a16:creationId xmlns:a16="http://schemas.microsoft.com/office/drawing/2014/main" id="{18CCA114-4C99-43A8-94E1-7FD460890046}"/>
                </a:ext>
              </a:extLst>
            </p:cNvPr>
            <p:cNvSpPr/>
            <p:nvPr/>
          </p:nvSpPr>
          <p:spPr>
            <a:xfrm>
              <a:off x="7299745" y="323715"/>
              <a:ext cx="1021742" cy="69213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56B4CEC1-139D-4F28-A309-3DB4A03ABBEF}"/>
                </a:ext>
              </a:extLst>
            </p:cNvPr>
            <p:cNvSpPr txBox="1"/>
            <p:nvPr/>
          </p:nvSpPr>
          <p:spPr>
            <a:xfrm>
              <a:off x="7150717" y="396756"/>
              <a:ext cx="1368410" cy="6795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AHP</a:t>
              </a:r>
            </a:p>
          </p:txBody>
        </p:sp>
      </p:grpSp>
      <p:sp>
        <p:nvSpPr>
          <p:cNvPr id="86" name="加号 85">
            <a:extLst>
              <a:ext uri="{FF2B5EF4-FFF2-40B4-BE49-F238E27FC236}">
                <a16:creationId xmlns:a16="http://schemas.microsoft.com/office/drawing/2014/main" id="{8F084265-015E-4403-8B5D-FC4393C6ECD2}"/>
              </a:ext>
            </a:extLst>
          </p:cNvPr>
          <p:cNvSpPr/>
          <p:nvPr/>
        </p:nvSpPr>
        <p:spPr>
          <a:xfrm>
            <a:off x="6133400" y="4239856"/>
            <a:ext cx="197529" cy="215348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F51C72A4-1FD9-41E1-BA40-E40A942A45BE}"/>
              </a:ext>
            </a:extLst>
          </p:cNvPr>
          <p:cNvCxnSpPr>
            <a:cxnSpLocks/>
          </p:cNvCxnSpPr>
          <p:nvPr/>
        </p:nvCxnSpPr>
        <p:spPr>
          <a:xfrm flipV="1">
            <a:off x="5634204" y="3882510"/>
            <a:ext cx="0" cy="194582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0A02DB6A-7375-4B0E-9B11-226669DF5AD0}"/>
              </a:ext>
            </a:extLst>
          </p:cNvPr>
          <p:cNvCxnSpPr>
            <a:cxnSpLocks/>
          </p:cNvCxnSpPr>
          <p:nvPr/>
        </p:nvCxnSpPr>
        <p:spPr>
          <a:xfrm flipV="1">
            <a:off x="6685602" y="3882509"/>
            <a:ext cx="0" cy="194582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0FD953E6-881C-4E8E-AC84-3A219B7C93A3}"/>
              </a:ext>
            </a:extLst>
          </p:cNvPr>
          <p:cNvGrpSpPr/>
          <p:nvPr/>
        </p:nvGrpSpPr>
        <p:grpSpPr>
          <a:xfrm>
            <a:off x="8236753" y="2763118"/>
            <a:ext cx="1040825" cy="476786"/>
            <a:chOff x="4786831" y="2759490"/>
            <a:chExt cx="1730381" cy="403759"/>
          </a:xfrm>
        </p:grpSpPr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0459CF0C-6D94-4607-A335-DE8F357BDE14}"/>
                </a:ext>
              </a:extLst>
            </p:cNvPr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7" name="文本框 116">
              <a:extLst>
                <a:ext uri="{FF2B5EF4-FFF2-40B4-BE49-F238E27FC236}">
                  <a16:creationId xmlns:a16="http://schemas.microsoft.com/office/drawing/2014/main" id="{EE213F26-0469-4735-BFFA-3893513DB02A}"/>
                </a:ext>
              </a:extLst>
            </p:cNvPr>
            <p:cNvSpPr txBox="1"/>
            <p:nvPr/>
          </p:nvSpPr>
          <p:spPr>
            <a:xfrm>
              <a:off x="4786831" y="2759490"/>
              <a:ext cx="1730381" cy="2606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Calibri" panose="020F0502020204030204" pitchFamily="34" charset="0"/>
                  <a:cs typeface="Calibri" panose="020F0502020204030204" pitchFamily="34" charset="0"/>
                </a:rPr>
                <a:t>Formation utilization</a:t>
              </a:r>
              <a:endParaRPr lang="zh-CN" altLang="en-US" sz="14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20" name="矩形 119">
            <a:extLst>
              <a:ext uri="{FF2B5EF4-FFF2-40B4-BE49-F238E27FC236}">
                <a16:creationId xmlns:a16="http://schemas.microsoft.com/office/drawing/2014/main" id="{2839EF7A-8592-403A-AE2D-9F2822D257DA}"/>
              </a:ext>
            </a:extLst>
          </p:cNvPr>
          <p:cNvSpPr/>
          <p:nvPr/>
        </p:nvSpPr>
        <p:spPr>
          <a:xfrm>
            <a:off x="8179356" y="4229646"/>
            <a:ext cx="2748089" cy="1356024"/>
          </a:xfrm>
          <a:prstGeom prst="rect">
            <a:avLst/>
          </a:prstGeom>
          <a:noFill/>
          <a:ln w="28575">
            <a:solidFill>
              <a:srgbClr val="ACACA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84711735-6BC4-40B8-8FEA-89A54D6C3CD5}"/>
              </a:ext>
            </a:extLst>
          </p:cNvPr>
          <p:cNvSpPr txBox="1"/>
          <p:nvPr/>
        </p:nvSpPr>
        <p:spPr>
          <a:xfrm>
            <a:off x="8293319" y="4242497"/>
            <a:ext cx="29562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i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TASK 4 </a:t>
            </a:r>
            <a:r>
              <a:rPr lang="en-US" altLang="zh-CN" sz="1600" b="1" i="1" dirty="0">
                <a:latin typeface="Calibri" panose="020F0502020204030204" pitchFamily="34" charset="0"/>
                <a:cs typeface="Calibri" panose="020F0502020204030204" pitchFamily="34" charset="0"/>
              </a:rPr>
              <a:t>Indicators of a good social team</a:t>
            </a:r>
            <a:endParaRPr lang="zh-CN" altLang="en-US" sz="1600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575CF063-91BA-45BF-A408-1567C65C543E}"/>
              </a:ext>
            </a:extLst>
          </p:cNvPr>
          <p:cNvGrpSpPr/>
          <p:nvPr/>
        </p:nvGrpSpPr>
        <p:grpSpPr>
          <a:xfrm>
            <a:off x="8336485" y="4813426"/>
            <a:ext cx="1112198" cy="817775"/>
            <a:chOff x="4823449" y="2793917"/>
            <a:chExt cx="1669203" cy="533548"/>
          </a:xfrm>
        </p:grpSpPr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id="{5A306C80-025B-40F4-9B4C-229549F6B5E0}"/>
                </a:ext>
              </a:extLst>
            </p:cNvPr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6" name="文本框 125">
              <a:extLst>
                <a:ext uri="{FF2B5EF4-FFF2-40B4-BE49-F238E27FC236}">
                  <a16:creationId xmlns:a16="http://schemas.microsoft.com/office/drawing/2014/main" id="{ACE59133-54E6-4C79-A55A-CDC3B7F0C3E7}"/>
                </a:ext>
              </a:extLst>
            </p:cNvPr>
            <p:cNvSpPr txBox="1"/>
            <p:nvPr/>
          </p:nvSpPr>
          <p:spPr>
            <a:xfrm>
              <a:off x="4888925" y="2824694"/>
              <a:ext cx="1568116" cy="502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Calibri" panose="020F0502020204030204" pitchFamily="34" charset="0"/>
                  <a:cs typeface="Calibri" panose="020F0502020204030204" pitchFamily="34" charset="0"/>
                </a:rPr>
                <a:t>Obtained indicators</a:t>
              </a:r>
              <a:endParaRPr lang="zh-CN" altLang="en-US" sz="14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33AA8755-405E-474D-B947-3662701E13EB}"/>
              </a:ext>
            </a:extLst>
          </p:cNvPr>
          <p:cNvGrpSpPr/>
          <p:nvPr/>
        </p:nvGrpSpPr>
        <p:grpSpPr>
          <a:xfrm>
            <a:off x="9655445" y="4808221"/>
            <a:ext cx="1272000" cy="561512"/>
            <a:chOff x="4823449" y="2793917"/>
            <a:chExt cx="1743160" cy="369332"/>
          </a:xfrm>
        </p:grpSpPr>
        <p:sp>
          <p:nvSpPr>
            <p:cNvPr id="129" name="矩形 128">
              <a:extLst>
                <a:ext uri="{FF2B5EF4-FFF2-40B4-BE49-F238E27FC236}">
                  <a16:creationId xmlns:a16="http://schemas.microsoft.com/office/drawing/2014/main" id="{90C3AA10-646F-468E-8647-60033497DDA3}"/>
                </a:ext>
              </a:extLst>
            </p:cNvPr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5F6AF3AD-1DFA-4194-96B8-593C22583923}"/>
                </a:ext>
              </a:extLst>
            </p:cNvPr>
            <p:cNvSpPr txBox="1"/>
            <p:nvPr/>
          </p:nvSpPr>
          <p:spPr>
            <a:xfrm>
              <a:off x="4836228" y="2816342"/>
              <a:ext cx="1730381" cy="3441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Calibri" panose="020F0502020204030204" pitchFamily="34" charset="0"/>
                  <a:cs typeface="Calibri" panose="020F0502020204030204" pitchFamily="34" charset="0"/>
                </a:rPr>
                <a:t>Additional indicators</a:t>
              </a:r>
              <a:endParaRPr lang="zh-CN" altLang="en-US" sz="14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131" name="直接箭头连接符 130">
            <a:extLst>
              <a:ext uri="{FF2B5EF4-FFF2-40B4-BE49-F238E27FC236}">
                <a16:creationId xmlns:a16="http://schemas.microsoft.com/office/drawing/2014/main" id="{ECE335A2-43CE-4838-B0ED-7E39696BDE3F}"/>
              </a:ext>
            </a:extLst>
          </p:cNvPr>
          <p:cNvCxnSpPr>
            <a:cxnSpLocks/>
          </p:cNvCxnSpPr>
          <p:nvPr/>
        </p:nvCxnSpPr>
        <p:spPr>
          <a:xfrm>
            <a:off x="9456723" y="5026828"/>
            <a:ext cx="209614" cy="0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直接箭头连接符 134">
            <a:extLst>
              <a:ext uri="{FF2B5EF4-FFF2-40B4-BE49-F238E27FC236}">
                <a16:creationId xmlns:a16="http://schemas.microsoft.com/office/drawing/2014/main" id="{D3A09AC7-B5A6-4E66-97D3-D568E75F6542}"/>
              </a:ext>
            </a:extLst>
          </p:cNvPr>
          <p:cNvCxnSpPr>
            <a:cxnSpLocks/>
          </p:cNvCxnSpPr>
          <p:nvPr/>
        </p:nvCxnSpPr>
        <p:spPr>
          <a:xfrm flipH="1">
            <a:off x="9456723" y="5200862"/>
            <a:ext cx="193533" cy="0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DFAE5792-6841-440B-AF00-D16885A0AB69}"/>
              </a:ext>
            </a:extLst>
          </p:cNvPr>
          <p:cNvCxnSpPr>
            <a:cxnSpLocks/>
          </p:cNvCxnSpPr>
          <p:nvPr/>
        </p:nvCxnSpPr>
        <p:spPr>
          <a:xfrm>
            <a:off x="9589801" y="3956431"/>
            <a:ext cx="0" cy="259842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7" name="矩形 126">
            <a:extLst>
              <a:ext uri="{FF2B5EF4-FFF2-40B4-BE49-F238E27FC236}">
                <a16:creationId xmlns:a16="http://schemas.microsoft.com/office/drawing/2014/main" id="{1E2BC051-1C7D-4996-B875-A78AE93D1CDF}"/>
              </a:ext>
            </a:extLst>
          </p:cNvPr>
          <p:cNvSpPr/>
          <p:nvPr/>
        </p:nvSpPr>
        <p:spPr>
          <a:xfrm>
            <a:off x="1795445" y="3838254"/>
            <a:ext cx="1145294" cy="40424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1620086C-8846-40DE-9AD4-6BA3F846F0FC}"/>
              </a:ext>
            </a:extLst>
          </p:cNvPr>
          <p:cNvSpPr txBox="1"/>
          <p:nvPr/>
        </p:nvSpPr>
        <p:spPr>
          <a:xfrm>
            <a:off x="1782216" y="3779570"/>
            <a:ext cx="118613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00" b="1" dirty="0">
                <a:latin typeface="Calibri" panose="020F0502020204030204" pitchFamily="34" charset="0"/>
                <a:cs typeface="Calibri" panose="020F0502020204030204" pitchFamily="34" charset="0"/>
              </a:rPr>
              <a:t>Triadic Configurations</a:t>
            </a:r>
            <a:endParaRPr lang="zh-CN" altLang="en-US" sz="13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3334D033-AE0D-4CD8-B1BD-C151178F57E4}"/>
              </a:ext>
            </a:extLst>
          </p:cNvPr>
          <p:cNvSpPr/>
          <p:nvPr/>
        </p:nvSpPr>
        <p:spPr>
          <a:xfrm>
            <a:off x="3080544" y="3729753"/>
            <a:ext cx="868842" cy="40424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C64B9939-75A6-4CCA-898B-6C50181EAA2F}"/>
              </a:ext>
            </a:extLst>
          </p:cNvPr>
          <p:cNvSpPr txBox="1"/>
          <p:nvPr/>
        </p:nvSpPr>
        <p:spPr>
          <a:xfrm>
            <a:off x="3084650" y="3689964"/>
            <a:ext cx="87804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00" b="1" dirty="0">
                <a:latin typeface="Calibri" panose="020F0502020204030204" pitchFamily="34" charset="0"/>
                <a:cs typeface="Calibri" panose="020F0502020204030204" pitchFamily="34" charset="0"/>
              </a:rPr>
              <a:t>Team formation</a:t>
            </a:r>
            <a:endParaRPr lang="zh-CN" altLang="en-US" sz="13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39" name="直接箭头连接符 138">
            <a:extLst>
              <a:ext uri="{FF2B5EF4-FFF2-40B4-BE49-F238E27FC236}">
                <a16:creationId xmlns:a16="http://schemas.microsoft.com/office/drawing/2014/main" id="{0082795C-34A4-4228-9286-FD247C41EBA5}"/>
              </a:ext>
            </a:extLst>
          </p:cNvPr>
          <p:cNvCxnSpPr>
            <a:cxnSpLocks/>
          </p:cNvCxnSpPr>
          <p:nvPr/>
        </p:nvCxnSpPr>
        <p:spPr>
          <a:xfrm>
            <a:off x="3511427" y="2889496"/>
            <a:ext cx="0" cy="830888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0" name="矩形 139">
            <a:extLst>
              <a:ext uri="{FF2B5EF4-FFF2-40B4-BE49-F238E27FC236}">
                <a16:creationId xmlns:a16="http://schemas.microsoft.com/office/drawing/2014/main" id="{A3BD7DFB-E110-4C09-BD0E-13841F506455}"/>
              </a:ext>
            </a:extLst>
          </p:cNvPr>
          <p:cNvSpPr/>
          <p:nvPr/>
        </p:nvSpPr>
        <p:spPr>
          <a:xfrm>
            <a:off x="1746017" y="3131367"/>
            <a:ext cx="1244759" cy="1201673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加号 140">
            <a:extLst>
              <a:ext uri="{FF2B5EF4-FFF2-40B4-BE49-F238E27FC236}">
                <a16:creationId xmlns:a16="http://schemas.microsoft.com/office/drawing/2014/main" id="{6516B024-F7F5-46AC-B2BE-FF98322A8463}"/>
              </a:ext>
            </a:extLst>
          </p:cNvPr>
          <p:cNvSpPr/>
          <p:nvPr/>
        </p:nvSpPr>
        <p:spPr>
          <a:xfrm>
            <a:off x="2291062" y="3632161"/>
            <a:ext cx="197529" cy="215348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2" name="组合 141">
            <a:extLst>
              <a:ext uri="{FF2B5EF4-FFF2-40B4-BE49-F238E27FC236}">
                <a16:creationId xmlns:a16="http://schemas.microsoft.com/office/drawing/2014/main" id="{1E970825-1D06-4ED4-B5E8-7CF26C930A8D}"/>
              </a:ext>
            </a:extLst>
          </p:cNvPr>
          <p:cNvGrpSpPr/>
          <p:nvPr/>
        </p:nvGrpSpPr>
        <p:grpSpPr>
          <a:xfrm>
            <a:off x="1994611" y="4641543"/>
            <a:ext cx="1797314" cy="369332"/>
            <a:chOff x="4823449" y="2793917"/>
            <a:chExt cx="1742238" cy="369332"/>
          </a:xfrm>
        </p:grpSpPr>
        <p:sp>
          <p:nvSpPr>
            <p:cNvPr id="143" name="矩形 142">
              <a:extLst>
                <a:ext uri="{FF2B5EF4-FFF2-40B4-BE49-F238E27FC236}">
                  <a16:creationId xmlns:a16="http://schemas.microsoft.com/office/drawing/2014/main" id="{E73FFD3E-1B16-4771-9032-87BC1AE8F7E3}"/>
                </a:ext>
              </a:extLst>
            </p:cNvPr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1438B3AE-455D-4CD3-813B-B810F32C7ED6}"/>
                </a:ext>
              </a:extLst>
            </p:cNvPr>
            <p:cNvSpPr txBox="1"/>
            <p:nvPr/>
          </p:nvSpPr>
          <p:spPr>
            <a:xfrm>
              <a:off x="4835306" y="2811306"/>
              <a:ext cx="17303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Calibri" panose="020F0502020204030204" pitchFamily="34" charset="0"/>
                  <a:cs typeface="Calibri" panose="020F0502020204030204" pitchFamily="34" charset="0"/>
                </a:rPr>
                <a:t>Time and Space</a:t>
              </a:r>
              <a:endParaRPr lang="zh-CN" altLang="en-US" sz="14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98F7CCD3-28C1-4138-91A4-ABA257E69276}"/>
              </a:ext>
            </a:extLst>
          </p:cNvPr>
          <p:cNvCxnSpPr>
            <a:cxnSpLocks/>
          </p:cNvCxnSpPr>
          <p:nvPr/>
        </p:nvCxnSpPr>
        <p:spPr>
          <a:xfrm>
            <a:off x="2418684" y="4319728"/>
            <a:ext cx="0" cy="320511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7" name="直接箭头连接符 146">
            <a:extLst>
              <a:ext uri="{FF2B5EF4-FFF2-40B4-BE49-F238E27FC236}">
                <a16:creationId xmlns:a16="http://schemas.microsoft.com/office/drawing/2014/main" id="{656DD33C-483A-4F79-B04D-4F64E8F3FF62}"/>
              </a:ext>
            </a:extLst>
          </p:cNvPr>
          <p:cNvCxnSpPr>
            <a:cxnSpLocks/>
          </p:cNvCxnSpPr>
          <p:nvPr/>
        </p:nvCxnSpPr>
        <p:spPr>
          <a:xfrm>
            <a:off x="3523673" y="4133996"/>
            <a:ext cx="0" cy="506243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直接箭头连接符 147">
            <a:extLst>
              <a:ext uri="{FF2B5EF4-FFF2-40B4-BE49-F238E27FC236}">
                <a16:creationId xmlns:a16="http://schemas.microsoft.com/office/drawing/2014/main" id="{30288AD1-4499-4E34-8D8F-A196ACDB1E47}"/>
              </a:ext>
            </a:extLst>
          </p:cNvPr>
          <p:cNvCxnSpPr>
            <a:cxnSpLocks/>
          </p:cNvCxnSpPr>
          <p:nvPr/>
        </p:nvCxnSpPr>
        <p:spPr>
          <a:xfrm>
            <a:off x="6116637" y="3110658"/>
            <a:ext cx="0" cy="213764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0942414F-A00B-4CA8-ABB8-A1FE0C134CED}"/>
              </a:ext>
            </a:extLst>
          </p:cNvPr>
          <p:cNvGrpSpPr/>
          <p:nvPr/>
        </p:nvGrpSpPr>
        <p:grpSpPr>
          <a:xfrm>
            <a:off x="4716946" y="4865788"/>
            <a:ext cx="2888149" cy="820859"/>
            <a:chOff x="4806381" y="2793917"/>
            <a:chExt cx="1730381" cy="535243"/>
          </a:xfrm>
        </p:grpSpPr>
        <p:sp>
          <p:nvSpPr>
            <p:cNvPr id="150" name="矩形 149">
              <a:extLst>
                <a:ext uri="{FF2B5EF4-FFF2-40B4-BE49-F238E27FC236}">
                  <a16:creationId xmlns:a16="http://schemas.microsoft.com/office/drawing/2014/main" id="{2C7663CD-E04B-4A96-8DF0-1AA6EEFC7BCC}"/>
                </a:ext>
              </a:extLst>
            </p:cNvPr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1" name="文本框 150">
              <a:extLst>
                <a:ext uri="{FF2B5EF4-FFF2-40B4-BE49-F238E27FC236}">
                  <a16:creationId xmlns:a16="http://schemas.microsoft.com/office/drawing/2014/main" id="{59BA303C-1FF9-4FAC-9A8E-02D32509A955}"/>
                </a:ext>
              </a:extLst>
            </p:cNvPr>
            <p:cNvSpPr txBox="1"/>
            <p:nvPr/>
          </p:nvSpPr>
          <p:spPr>
            <a:xfrm>
              <a:off x="4806381" y="2805940"/>
              <a:ext cx="173038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Calibri" panose="020F0502020204030204" pitchFamily="34" charset="0"/>
                  <a:cs typeface="Calibri" panose="020F0502020204030204" pitchFamily="34" charset="0"/>
                </a:rPr>
                <a:t>Three dimensional dynamic model of team cooperation</a:t>
              </a:r>
              <a:endParaRPr lang="zh-CN" altLang="en-US" sz="14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152" name="直接箭头连接符 151">
            <a:extLst>
              <a:ext uri="{FF2B5EF4-FFF2-40B4-BE49-F238E27FC236}">
                <a16:creationId xmlns:a16="http://schemas.microsoft.com/office/drawing/2014/main" id="{89D6B213-ECB7-4716-B169-80E7F652F56E}"/>
              </a:ext>
            </a:extLst>
          </p:cNvPr>
          <p:cNvCxnSpPr>
            <a:cxnSpLocks/>
          </p:cNvCxnSpPr>
          <p:nvPr/>
        </p:nvCxnSpPr>
        <p:spPr>
          <a:xfrm>
            <a:off x="6185692" y="4640239"/>
            <a:ext cx="0" cy="225549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3" name="矩形 152">
            <a:extLst>
              <a:ext uri="{FF2B5EF4-FFF2-40B4-BE49-F238E27FC236}">
                <a16:creationId xmlns:a16="http://schemas.microsoft.com/office/drawing/2014/main" id="{6C3CA898-738F-4CA2-998A-6BB728D5EC7E}"/>
              </a:ext>
            </a:extLst>
          </p:cNvPr>
          <p:cNvSpPr/>
          <p:nvPr/>
        </p:nvSpPr>
        <p:spPr>
          <a:xfrm>
            <a:off x="5004803" y="4086352"/>
            <a:ext cx="2271433" cy="550877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4" name="组合 153">
            <a:extLst>
              <a:ext uri="{FF2B5EF4-FFF2-40B4-BE49-F238E27FC236}">
                <a16:creationId xmlns:a16="http://schemas.microsoft.com/office/drawing/2014/main" id="{D1C59CDD-AB3A-4748-9F01-A9B4295FB122}"/>
              </a:ext>
            </a:extLst>
          </p:cNvPr>
          <p:cNvGrpSpPr/>
          <p:nvPr/>
        </p:nvGrpSpPr>
        <p:grpSpPr>
          <a:xfrm>
            <a:off x="9367123" y="2763122"/>
            <a:ext cx="1560323" cy="738664"/>
            <a:chOff x="4786831" y="2759491"/>
            <a:chExt cx="1730381" cy="625526"/>
          </a:xfrm>
        </p:grpSpPr>
        <p:sp>
          <p:nvSpPr>
            <p:cNvPr id="155" name="矩形 154">
              <a:extLst>
                <a:ext uri="{FF2B5EF4-FFF2-40B4-BE49-F238E27FC236}">
                  <a16:creationId xmlns:a16="http://schemas.microsoft.com/office/drawing/2014/main" id="{BF454555-9F6A-4AC6-8C87-4C3C70525051}"/>
                </a:ext>
              </a:extLst>
            </p:cNvPr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6" name="文本框 155">
              <a:extLst>
                <a:ext uri="{FF2B5EF4-FFF2-40B4-BE49-F238E27FC236}">
                  <a16:creationId xmlns:a16="http://schemas.microsoft.com/office/drawing/2014/main" id="{F1D74AF2-E1D3-4609-9DA7-A1D2DA3F2D84}"/>
                </a:ext>
              </a:extLst>
            </p:cNvPr>
            <p:cNvSpPr txBox="1"/>
            <p:nvPr/>
          </p:nvSpPr>
          <p:spPr>
            <a:xfrm>
              <a:off x="4786831" y="2759491"/>
              <a:ext cx="1730381" cy="6255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Calibri" panose="020F0502020204030204" pitchFamily="34" charset="0"/>
                  <a:cs typeface="Calibri" panose="020F0502020204030204" pitchFamily="34" charset="0"/>
                </a:rPr>
                <a:t>Look for effective formations</a:t>
              </a:r>
              <a:endParaRPr lang="zh-CN" altLang="en-US" sz="14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160" name="直接箭头连接符 159">
            <a:extLst>
              <a:ext uri="{FF2B5EF4-FFF2-40B4-BE49-F238E27FC236}">
                <a16:creationId xmlns:a16="http://schemas.microsoft.com/office/drawing/2014/main" id="{BEA0EDAC-3F24-4688-814F-32ED1560DD7C}"/>
              </a:ext>
            </a:extLst>
          </p:cNvPr>
          <p:cNvCxnSpPr>
            <a:cxnSpLocks/>
          </p:cNvCxnSpPr>
          <p:nvPr/>
        </p:nvCxnSpPr>
        <p:spPr>
          <a:xfrm>
            <a:off x="9250442" y="3045285"/>
            <a:ext cx="169328" cy="0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61" name="组合 160">
            <a:extLst>
              <a:ext uri="{FF2B5EF4-FFF2-40B4-BE49-F238E27FC236}">
                <a16:creationId xmlns:a16="http://schemas.microsoft.com/office/drawing/2014/main" id="{5D7E696B-32C7-4114-BBF9-0C15307EE249}"/>
              </a:ext>
            </a:extLst>
          </p:cNvPr>
          <p:cNvGrpSpPr/>
          <p:nvPr/>
        </p:nvGrpSpPr>
        <p:grpSpPr>
          <a:xfrm>
            <a:off x="8216083" y="3520207"/>
            <a:ext cx="2711363" cy="369332"/>
            <a:chOff x="4774022" y="2793917"/>
            <a:chExt cx="1730381" cy="369332"/>
          </a:xfrm>
        </p:grpSpPr>
        <p:sp>
          <p:nvSpPr>
            <p:cNvPr id="162" name="矩形 161">
              <a:extLst>
                <a:ext uri="{FF2B5EF4-FFF2-40B4-BE49-F238E27FC236}">
                  <a16:creationId xmlns:a16="http://schemas.microsoft.com/office/drawing/2014/main" id="{7DD55A52-0B7E-4BBB-9159-CF87E11B9C41}"/>
                </a:ext>
              </a:extLst>
            </p:cNvPr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1FE14972-96B4-4040-96BE-A2A1C89105D9}"/>
                </a:ext>
              </a:extLst>
            </p:cNvPr>
            <p:cNvSpPr txBox="1"/>
            <p:nvPr/>
          </p:nvSpPr>
          <p:spPr>
            <a:xfrm>
              <a:off x="4774022" y="2802086"/>
              <a:ext cx="17303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Five success measures</a:t>
              </a:r>
              <a:endParaRPr lang="zh-CN" altLang="en-US" sz="16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164" name="直接箭头连接符 163">
            <a:extLst>
              <a:ext uri="{FF2B5EF4-FFF2-40B4-BE49-F238E27FC236}">
                <a16:creationId xmlns:a16="http://schemas.microsoft.com/office/drawing/2014/main" id="{FB33BC1A-2173-439B-BBB9-A1A527F34703}"/>
              </a:ext>
            </a:extLst>
          </p:cNvPr>
          <p:cNvCxnSpPr>
            <a:cxnSpLocks/>
          </p:cNvCxnSpPr>
          <p:nvPr/>
        </p:nvCxnSpPr>
        <p:spPr>
          <a:xfrm>
            <a:off x="8802801" y="3239904"/>
            <a:ext cx="0" cy="288472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5" name="直接箭头连接符 164">
            <a:extLst>
              <a:ext uri="{FF2B5EF4-FFF2-40B4-BE49-F238E27FC236}">
                <a16:creationId xmlns:a16="http://schemas.microsoft.com/office/drawing/2014/main" id="{3827244F-AC00-4C9C-82CC-2296BAAA2A62}"/>
              </a:ext>
            </a:extLst>
          </p:cNvPr>
          <p:cNvCxnSpPr>
            <a:cxnSpLocks/>
          </p:cNvCxnSpPr>
          <p:nvPr/>
        </p:nvCxnSpPr>
        <p:spPr>
          <a:xfrm>
            <a:off x="10210466" y="3231735"/>
            <a:ext cx="0" cy="288472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" name="矩形: 圆角 97">
            <a:extLst>
              <a:ext uri="{FF2B5EF4-FFF2-40B4-BE49-F238E27FC236}">
                <a16:creationId xmlns:a16="http://schemas.microsoft.com/office/drawing/2014/main" id="{559C0489-1951-411D-9D58-D54AB1D897E3}"/>
              </a:ext>
            </a:extLst>
          </p:cNvPr>
          <p:cNvSpPr/>
          <p:nvPr/>
        </p:nvSpPr>
        <p:spPr>
          <a:xfrm>
            <a:off x="4053341" y="336937"/>
            <a:ext cx="1039092" cy="561109"/>
          </a:xfrm>
          <a:prstGeom prst="roundRect">
            <a:avLst/>
          </a:prstGeom>
          <a:solidFill>
            <a:srgbClr val="9DC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E4706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846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5AED641-3543-401C-BCDA-249D791B5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09" y="195122"/>
            <a:ext cx="1984750" cy="104285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DE9A315-7053-4E27-A5FE-9E5BBD188F87}"/>
              </a:ext>
            </a:extLst>
          </p:cNvPr>
          <p:cNvSpPr txBox="1"/>
          <p:nvPr/>
        </p:nvSpPr>
        <p:spPr>
          <a:xfrm>
            <a:off x="6101991" y="926609"/>
            <a:ext cx="2144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of Light</a:t>
            </a:r>
          </a:p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Pollution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箭头: 下 5">
            <a:extLst>
              <a:ext uri="{FF2B5EF4-FFF2-40B4-BE49-F238E27FC236}">
                <a16:creationId xmlns:a16="http://schemas.microsoft.com/office/drawing/2014/main" id="{EC5CD7E5-F919-4259-AAC2-29AC36700AEC}"/>
              </a:ext>
            </a:extLst>
          </p:cNvPr>
          <p:cNvSpPr/>
          <p:nvPr/>
        </p:nvSpPr>
        <p:spPr>
          <a:xfrm>
            <a:off x="7056120" y="1631643"/>
            <a:ext cx="341376" cy="597408"/>
          </a:xfrm>
          <a:prstGeom prst="downArrow">
            <a:avLst/>
          </a:prstGeom>
          <a:solidFill>
            <a:srgbClr val="94C3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2430565-E8C8-4661-ABAA-E554B48A8EFB}"/>
              </a:ext>
            </a:extLst>
          </p:cNvPr>
          <p:cNvSpPr/>
          <p:nvPr/>
        </p:nvSpPr>
        <p:spPr>
          <a:xfrm>
            <a:off x="6393180" y="2347926"/>
            <a:ext cx="1760220" cy="731520"/>
          </a:xfrm>
          <a:prstGeom prst="roundRect">
            <a:avLst/>
          </a:prstGeom>
          <a:solidFill>
            <a:srgbClr val="83C4E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Determination of the Data Space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5CF3406-061D-4B57-A80B-6A3B50E881CA}"/>
              </a:ext>
            </a:extLst>
          </p:cNvPr>
          <p:cNvSpPr/>
          <p:nvPr/>
        </p:nvSpPr>
        <p:spPr>
          <a:xfrm>
            <a:off x="6134100" y="3370728"/>
            <a:ext cx="954405" cy="554366"/>
          </a:xfrm>
          <a:prstGeom prst="roundRect">
            <a:avLst/>
          </a:prstGeom>
          <a:solidFill>
            <a:srgbClr val="94C3D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2-D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1ED092B-31E5-40EA-A131-14C9B155EFA9}"/>
              </a:ext>
            </a:extLst>
          </p:cNvPr>
          <p:cNvSpPr/>
          <p:nvPr/>
        </p:nvSpPr>
        <p:spPr>
          <a:xfrm>
            <a:off x="7322820" y="3370728"/>
            <a:ext cx="954405" cy="554366"/>
          </a:xfrm>
          <a:prstGeom prst="roundRect">
            <a:avLst/>
          </a:prstGeom>
          <a:solidFill>
            <a:srgbClr val="94C3D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3-D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C518D9D-D641-434E-82D5-A23CF9BAABAF}"/>
              </a:ext>
            </a:extLst>
          </p:cNvPr>
          <p:cNvSpPr/>
          <p:nvPr/>
        </p:nvSpPr>
        <p:spPr>
          <a:xfrm>
            <a:off x="6134100" y="4363493"/>
            <a:ext cx="954405" cy="554366"/>
          </a:xfrm>
          <a:prstGeom prst="roundRect">
            <a:avLst/>
          </a:prstGeom>
          <a:solidFill>
            <a:srgbClr val="94C3D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F6E4468-EBB0-4B79-AA12-A49A141BAFBD}"/>
              </a:ext>
            </a:extLst>
          </p:cNvPr>
          <p:cNvSpPr/>
          <p:nvPr/>
        </p:nvSpPr>
        <p:spPr>
          <a:xfrm>
            <a:off x="7226808" y="4363493"/>
            <a:ext cx="1131570" cy="554366"/>
          </a:xfrm>
          <a:prstGeom prst="roundRect">
            <a:avLst/>
          </a:prstGeom>
          <a:solidFill>
            <a:srgbClr val="94C3D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Independent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3706169-446D-488B-B455-CAD1A3A6AB53}"/>
              </a:ext>
            </a:extLst>
          </p:cNvPr>
          <p:cNvSpPr/>
          <p:nvPr/>
        </p:nvSpPr>
        <p:spPr>
          <a:xfrm>
            <a:off x="5947410" y="5466383"/>
            <a:ext cx="1279398" cy="731520"/>
          </a:xfrm>
          <a:prstGeom prst="roundRect">
            <a:avLst/>
          </a:prstGeom>
          <a:solidFill>
            <a:srgbClr val="94C3D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Dependent on Device Performance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5E7AA05-FDEA-42A4-BF79-EF0E4FF1043B}"/>
              </a:ext>
            </a:extLst>
          </p:cNvPr>
          <p:cNvSpPr/>
          <p:nvPr/>
        </p:nvSpPr>
        <p:spPr>
          <a:xfrm>
            <a:off x="7322820" y="5594200"/>
            <a:ext cx="1325118" cy="475885"/>
          </a:xfrm>
          <a:prstGeom prst="roundRect">
            <a:avLst/>
          </a:prstGeom>
          <a:solidFill>
            <a:srgbClr val="94C3D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</a:t>
            </a:r>
            <a:endParaRPr lang="zh-CN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FCE695B-CB7D-4BC2-AE31-86564E4D385C}"/>
              </a:ext>
            </a:extLst>
          </p:cNvPr>
          <p:cNvSpPr/>
          <p:nvPr/>
        </p:nvSpPr>
        <p:spPr>
          <a:xfrm>
            <a:off x="5812536" y="3259275"/>
            <a:ext cx="2926080" cy="3096768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673CB50-7558-47ED-A2C6-36145C232DB4}"/>
              </a:ext>
            </a:extLst>
          </p:cNvPr>
          <p:cNvSpPr/>
          <p:nvPr/>
        </p:nvSpPr>
        <p:spPr>
          <a:xfrm>
            <a:off x="1860296" y="3252872"/>
            <a:ext cx="3706876" cy="3096768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89E94AF-EC46-48AB-8483-B90C986B1EFC}"/>
              </a:ext>
            </a:extLst>
          </p:cNvPr>
          <p:cNvSpPr/>
          <p:nvPr/>
        </p:nvSpPr>
        <p:spPr>
          <a:xfrm>
            <a:off x="2833624" y="2347926"/>
            <a:ext cx="1760220" cy="731520"/>
          </a:xfrm>
          <a:prstGeom prst="roundRect">
            <a:avLst/>
          </a:prstGeom>
          <a:solidFill>
            <a:srgbClr val="B3CFC4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Composition of Light Pollution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A6BADC71-27FC-467B-8FB7-A99C7678929E}"/>
              </a:ext>
            </a:extLst>
          </p:cNvPr>
          <p:cNvSpPr/>
          <p:nvPr/>
        </p:nvSpPr>
        <p:spPr>
          <a:xfrm>
            <a:off x="2233553" y="3355488"/>
            <a:ext cx="986536" cy="569606"/>
          </a:xfrm>
          <a:prstGeom prst="roundRect">
            <a:avLst/>
          </a:prstGeom>
          <a:solidFill>
            <a:srgbClr val="B3CFC4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Day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ECC2ABF-F0D0-4998-9B9F-6BD2F80B94D9}"/>
              </a:ext>
            </a:extLst>
          </p:cNvPr>
          <p:cNvSpPr/>
          <p:nvPr/>
        </p:nvSpPr>
        <p:spPr>
          <a:xfrm>
            <a:off x="2042741" y="4377953"/>
            <a:ext cx="1392425" cy="607978"/>
          </a:xfrm>
          <a:prstGeom prst="roundRect">
            <a:avLst/>
          </a:prstGeom>
          <a:solidFill>
            <a:srgbClr val="B3CFC4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is Complete and Accurate</a:t>
            </a:r>
            <a:endParaRPr lang="zh-CN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0159A66-7872-4F88-8DA4-79A1E6C32D45}"/>
              </a:ext>
            </a:extLst>
          </p:cNvPr>
          <p:cNvSpPr/>
          <p:nvPr/>
        </p:nvSpPr>
        <p:spPr>
          <a:xfrm>
            <a:off x="3951292" y="3343922"/>
            <a:ext cx="1058288" cy="607978"/>
          </a:xfrm>
          <a:prstGeom prst="roundRect">
            <a:avLst/>
          </a:prstGeom>
          <a:solidFill>
            <a:srgbClr val="A8DED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Night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D152AC7E-3339-4935-982C-4412B0B36069}"/>
              </a:ext>
            </a:extLst>
          </p:cNvPr>
          <p:cNvSpPr/>
          <p:nvPr/>
        </p:nvSpPr>
        <p:spPr>
          <a:xfrm>
            <a:off x="3504318" y="4363493"/>
            <a:ext cx="1952236" cy="607978"/>
          </a:xfrm>
          <a:prstGeom prst="roundRect">
            <a:avLst/>
          </a:prstGeom>
          <a:solidFill>
            <a:srgbClr val="A8DED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Fully Exploit the Artificial Light Influence</a:t>
            </a:r>
            <a:endParaRPr lang="zh-CN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8A12A6CD-8F3D-4459-AC1A-D1F0493AFE6D}"/>
              </a:ext>
            </a:extLst>
          </p:cNvPr>
          <p:cNvSpPr/>
          <p:nvPr/>
        </p:nvSpPr>
        <p:spPr>
          <a:xfrm>
            <a:off x="1898465" y="5393584"/>
            <a:ext cx="1656711" cy="877115"/>
          </a:xfrm>
          <a:prstGeom prst="roundRect">
            <a:avLst/>
          </a:prstGeom>
          <a:solidFill>
            <a:srgbClr val="B3CFC4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 to</a:t>
            </a:r>
          </a:p>
          <a:p>
            <a:pPr algn="ctr"/>
            <a:r>
              <a:rPr lang="en-US" altLang="zh-C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Eliminate the Influence of Natural Light</a:t>
            </a:r>
            <a:endParaRPr lang="zh-CN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F4504E2-4114-4C3A-8A0B-AE4210F22FFA}"/>
              </a:ext>
            </a:extLst>
          </p:cNvPr>
          <p:cNvSpPr/>
          <p:nvPr/>
        </p:nvSpPr>
        <p:spPr>
          <a:xfrm>
            <a:off x="3679259" y="5383064"/>
            <a:ext cx="1656711" cy="877115"/>
          </a:xfrm>
          <a:prstGeom prst="roundRect">
            <a:avLst/>
          </a:prstGeom>
          <a:solidFill>
            <a:srgbClr val="A8DED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Lack of Daytime Artificial Light Data</a:t>
            </a:r>
            <a:endParaRPr lang="zh-CN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7E6A78E-C09D-4E4D-ACCA-C00F95D876E7}"/>
              </a:ext>
            </a:extLst>
          </p:cNvPr>
          <p:cNvSpPr/>
          <p:nvPr/>
        </p:nvSpPr>
        <p:spPr>
          <a:xfrm>
            <a:off x="8917967" y="3252872"/>
            <a:ext cx="2824453" cy="3096768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F65D1774-DEF0-4923-897F-8CEA7C16E9F4}"/>
              </a:ext>
            </a:extLst>
          </p:cNvPr>
          <p:cNvSpPr/>
          <p:nvPr/>
        </p:nvSpPr>
        <p:spPr>
          <a:xfrm>
            <a:off x="9366263" y="2347926"/>
            <a:ext cx="1927860" cy="731520"/>
          </a:xfrm>
          <a:prstGeom prst="roundRect">
            <a:avLst/>
          </a:prstGeom>
          <a:solidFill>
            <a:srgbClr val="BFB8DA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Way Light Pollution Affects Biological Populations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59DCF909-5F53-4522-A306-EE70E9E3FE02}"/>
              </a:ext>
            </a:extLst>
          </p:cNvPr>
          <p:cNvSpPr/>
          <p:nvPr/>
        </p:nvSpPr>
        <p:spPr>
          <a:xfrm>
            <a:off x="9060180" y="3343922"/>
            <a:ext cx="1187704" cy="581172"/>
          </a:xfrm>
          <a:prstGeom prst="roundRect">
            <a:avLst/>
          </a:prstGeom>
          <a:solidFill>
            <a:srgbClr val="BBBBE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Microcosmic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9697CC71-010E-40EE-B687-B7F51DE7F497}"/>
              </a:ext>
            </a:extLst>
          </p:cNvPr>
          <p:cNvSpPr/>
          <p:nvPr/>
        </p:nvSpPr>
        <p:spPr>
          <a:xfrm>
            <a:off x="10440316" y="3343922"/>
            <a:ext cx="1187704" cy="581172"/>
          </a:xfrm>
          <a:prstGeom prst="roundRect">
            <a:avLst/>
          </a:prstGeom>
          <a:solidFill>
            <a:srgbClr val="CAC4E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Macroscopic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4301525F-D039-4698-AF79-CC8CD1EAF2CB}"/>
              </a:ext>
            </a:extLst>
          </p:cNvPr>
          <p:cNvSpPr/>
          <p:nvPr/>
        </p:nvSpPr>
        <p:spPr>
          <a:xfrm>
            <a:off x="9188457" y="4377953"/>
            <a:ext cx="931151" cy="539906"/>
          </a:xfrm>
          <a:prstGeom prst="roundRect">
            <a:avLst/>
          </a:prstGeom>
          <a:solidFill>
            <a:srgbClr val="BBBBE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8BD946E3-A90A-4020-8302-E2514CFD4E1D}"/>
              </a:ext>
            </a:extLst>
          </p:cNvPr>
          <p:cNvSpPr/>
          <p:nvPr/>
        </p:nvSpPr>
        <p:spPr>
          <a:xfrm>
            <a:off x="10413997" y="4377953"/>
            <a:ext cx="1240342" cy="539906"/>
          </a:xfrm>
          <a:prstGeom prst="roundRect">
            <a:avLst/>
          </a:prstGeom>
          <a:solidFill>
            <a:srgbClr val="CAC4E0"/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Concise and Universal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8C53896B-E07E-4FD0-8DD1-76CCBCC55D85}"/>
              </a:ext>
            </a:extLst>
          </p:cNvPr>
          <p:cNvSpPr/>
          <p:nvPr/>
        </p:nvSpPr>
        <p:spPr>
          <a:xfrm>
            <a:off x="9102808" y="5551668"/>
            <a:ext cx="1102449" cy="539906"/>
          </a:xfrm>
          <a:prstGeom prst="roundRect">
            <a:avLst/>
          </a:prstGeom>
          <a:solidFill>
            <a:srgbClr val="BBBBE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and Complex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F535AA79-FFCD-4FAD-A199-E7819D1B0475}"/>
              </a:ext>
            </a:extLst>
          </p:cNvPr>
          <p:cNvSpPr/>
          <p:nvPr/>
        </p:nvSpPr>
        <p:spPr>
          <a:xfrm>
            <a:off x="10555108" y="5594200"/>
            <a:ext cx="958120" cy="448740"/>
          </a:xfrm>
          <a:prstGeom prst="roundRect">
            <a:avLst/>
          </a:prstGeom>
          <a:solidFill>
            <a:srgbClr val="CAC4E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Rough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BF3DFC0B-B4F5-44E8-AA91-499890C501D6}"/>
              </a:ext>
            </a:extLst>
          </p:cNvPr>
          <p:cNvSpPr/>
          <p:nvPr/>
        </p:nvSpPr>
        <p:spPr>
          <a:xfrm rot="5460000">
            <a:off x="6480144" y="3917546"/>
            <a:ext cx="262315" cy="453496"/>
          </a:xfrm>
          <a:custGeom>
            <a:avLst/>
            <a:gdLst>
              <a:gd name="connsiteX0" fmla="*/ 0 w 262315"/>
              <a:gd name="connsiteY0" fmla="*/ 4238 h 453496"/>
              <a:gd name="connsiteX1" fmla="*/ 121356 w 262315"/>
              <a:gd name="connsiteY1" fmla="*/ 0 h 453496"/>
              <a:gd name="connsiteX2" fmla="*/ 262315 w 262315"/>
              <a:gd name="connsiteY2" fmla="*/ 219888 h 453496"/>
              <a:gd name="connsiteX3" fmla="*/ 140961 w 262315"/>
              <a:gd name="connsiteY3" fmla="*/ 224125 h 453496"/>
              <a:gd name="connsiteX4" fmla="*/ 5119 w 262315"/>
              <a:gd name="connsiteY4" fmla="*/ 453496 h 453496"/>
              <a:gd name="connsiteX5" fmla="*/ 138319 w 262315"/>
              <a:gd name="connsiteY5" fmla="*/ 228823 h 453496"/>
              <a:gd name="connsiteX6" fmla="*/ 259748 w 262315"/>
              <a:gd name="connsiteY6" fmla="*/ 228823 h 453496"/>
              <a:gd name="connsiteX7" fmla="*/ 126548 w 262315"/>
              <a:gd name="connsiteY7" fmla="*/ 453496 h 453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315" h="453496">
                <a:moveTo>
                  <a:pt x="0" y="4238"/>
                </a:moveTo>
                <a:lnTo>
                  <a:pt x="121356" y="0"/>
                </a:lnTo>
                <a:lnTo>
                  <a:pt x="262315" y="219888"/>
                </a:lnTo>
                <a:lnTo>
                  <a:pt x="140961" y="224125"/>
                </a:lnTo>
                <a:close/>
                <a:moveTo>
                  <a:pt x="5119" y="453496"/>
                </a:moveTo>
                <a:lnTo>
                  <a:pt x="138319" y="228823"/>
                </a:lnTo>
                <a:lnTo>
                  <a:pt x="259748" y="228823"/>
                </a:lnTo>
                <a:lnTo>
                  <a:pt x="126548" y="453496"/>
                </a:lnTo>
                <a:close/>
              </a:path>
            </a:pathLst>
          </a:custGeom>
          <a:solidFill>
            <a:srgbClr val="B2D7EA"/>
          </a:solidFill>
          <a:ln>
            <a:solidFill>
              <a:srgbClr val="B2D7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0917958F-8B9F-4311-972A-EFD856076CE6}"/>
              </a:ext>
            </a:extLst>
          </p:cNvPr>
          <p:cNvSpPr/>
          <p:nvPr/>
        </p:nvSpPr>
        <p:spPr>
          <a:xfrm rot="5460000">
            <a:off x="7671086" y="3929800"/>
            <a:ext cx="262315" cy="453496"/>
          </a:xfrm>
          <a:custGeom>
            <a:avLst/>
            <a:gdLst>
              <a:gd name="connsiteX0" fmla="*/ 0 w 262315"/>
              <a:gd name="connsiteY0" fmla="*/ 4238 h 453496"/>
              <a:gd name="connsiteX1" fmla="*/ 121356 w 262315"/>
              <a:gd name="connsiteY1" fmla="*/ 0 h 453496"/>
              <a:gd name="connsiteX2" fmla="*/ 262315 w 262315"/>
              <a:gd name="connsiteY2" fmla="*/ 219888 h 453496"/>
              <a:gd name="connsiteX3" fmla="*/ 140961 w 262315"/>
              <a:gd name="connsiteY3" fmla="*/ 224125 h 453496"/>
              <a:gd name="connsiteX4" fmla="*/ 5119 w 262315"/>
              <a:gd name="connsiteY4" fmla="*/ 453496 h 453496"/>
              <a:gd name="connsiteX5" fmla="*/ 138319 w 262315"/>
              <a:gd name="connsiteY5" fmla="*/ 228823 h 453496"/>
              <a:gd name="connsiteX6" fmla="*/ 259748 w 262315"/>
              <a:gd name="connsiteY6" fmla="*/ 228823 h 453496"/>
              <a:gd name="connsiteX7" fmla="*/ 126548 w 262315"/>
              <a:gd name="connsiteY7" fmla="*/ 453496 h 453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315" h="453496">
                <a:moveTo>
                  <a:pt x="0" y="4238"/>
                </a:moveTo>
                <a:lnTo>
                  <a:pt x="121356" y="0"/>
                </a:lnTo>
                <a:lnTo>
                  <a:pt x="262315" y="219888"/>
                </a:lnTo>
                <a:lnTo>
                  <a:pt x="140961" y="224125"/>
                </a:lnTo>
                <a:close/>
                <a:moveTo>
                  <a:pt x="5119" y="453496"/>
                </a:moveTo>
                <a:lnTo>
                  <a:pt x="138319" y="228823"/>
                </a:lnTo>
                <a:lnTo>
                  <a:pt x="259748" y="228823"/>
                </a:lnTo>
                <a:lnTo>
                  <a:pt x="126548" y="453496"/>
                </a:lnTo>
                <a:close/>
              </a:path>
            </a:pathLst>
          </a:custGeom>
          <a:solidFill>
            <a:srgbClr val="B2D7EA"/>
          </a:solidFill>
          <a:ln>
            <a:solidFill>
              <a:srgbClr val="B2D7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EBFCB88D-EAED-41F1-A2D3-6301DFA55022}"/>
              </a:ext>
            </a:extLst>
          </p:cNvPr>
          <p:cNvSpPr/>
          <p:nvPr/>
        </p:nvSpPr>
        <p:spPr>
          <a:xfrm rot="5460000">
            <a:off x="4353315" y="3899698"/>
            <a:ext cx="262315" cy="453496"/>
          </a:xfrm>
          <a:custGeom>
            <a:avLst/>
            <a:gdLst>
              <a:gd name="connsiteX0" fmla="*/ 0 w 262315"/>
              <a:gd name="connsiteY0" fmla="*/ 4238 h 453496"/>
              <a:gd name="connsiteX1" fmla="*/ 121356 w 262315"/>
              <a:gd name="connsiteY1" fmla="*/ 0 h 453496"/>
              <a:gd name="connsiteX2" fmla="*/ 262315 w 262315"/>
              <a:gd name="connsiteY2" fmla="*/ 219888 h 453496"/>
              <a:gd name="connsiteX3" fmla="*/ 140961 w 262315"/>
              <a:gd name="connsiteY3" fmla="*/ 224125 h 453496"/>
              <a:gd name="connsiteX4" fmla="*/ 5119 w 262315"/>
              <a:gd name="connsiteY4" fmla="*/ 453496 h 453496"/>
              <a:gd name="connsiteX5" fmla="*/ 138319 w 262315"/>
              <a:gd name="connsiteY5" fmla="*/ 228823 h 453496"/>
              <a:gd name="connsiteX6" fmla="*/ 259748 w 262315"/>
              <a:gd name="connsiteY6" fmla="*/ 228823 h 453496"/>
              <a:gd name="connsiteX7" fmla="*/ 126548 w 262315"/>
              <a:gd name="connsiteY7" fmla="*/ 453496 h 453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315" h="453496">
                <a:moveTo>
                  <a:pt x="0" y="4238"/>
                </a:moveTo>
                <a:lnTo>
                  <a:pt x="121356" y="0"/>
                </a:lnTo>
                <a:lnTo>
                  <a:pt x="262315" y="219888"/>
                </a:lnTo>
                <a:lnTo>
                  <a:pt x="140961" y="224125"/>
                </a:lnTo>
                <a:close/>
                <a:moveTo>
                  <a:pt x="5119" y="453496"/>
                </a:moveTo>
                <a:lnTo>
                  <a:pt x="138319" y="228823"/>
                </a:lnTo>
                <a:lnTo>
                  <a:pt x="259748" y="228823"/>
                </a:lnTo>
                <a:lnTo>
                  <a:pt x="126548" y="453496"/>
                </a:lnTo>
                <a:close/>
              </a:path>
            </a:pathLst>
          </a:custGeom>
          <a:solidFill>
            <a:srgbClr val="D2E1DB"/>
          </a:solidFill>
          <a:ln>
            <a:solidFill>
              <a:srgbClr val="D2E1D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0E90D719-8857-47A9-B40D-A6EAB1AD9B4D}"/>
              </a:ext>
            </a:extLst>
          </p:cNvPr>
          <p:cNvSpPr/>
          <p:nvPr/>
        </p:nvSpPr>
        <p:spPr>
          <a:xfrm rot="5460000">
            <a:off x="2595662" y="3899699"/>
            <a:ext cx="262315" cy="453496"/>
          </a:xfrm>
          <a:custGeom>
            <a:avLst/>
            <a:gdLst>
              <a:gd name="connsiteX0" fmla="*/ 0 w 262315"/>
              <a:gd name="connsiteY0" fmla="*/ 4238 h 453496"/>
              <a:gd name="connsiteX1" fmla="*/ 121356 w 262315"/>
              <a:gd name="connsiteY1" fmla="*/ 0 h 453496"/>
              <a:gd name="connsiteX2" fmla="*/ 262315 w 262315"/>
              <a:gd name="connsiteY2" fmla="*/ 219888 h 453496"/>
              <a:gd name="connsiteX3" fmla="*/ 140961 w 262315"/>
              <a:gd name="connsiteY3" fmla="*/ 224125 h 453496"/>
              <a:gd name="connsiteX4" fmla="*/ 5119 w 262315"/>
              <a:gd name="connsiteY4" fmla="*/ 453496 h 453496"/>
              <a:gd name="connsiteX5" fmla="*/ 138319 w 262315"/>
              <a:gd name="connsiteY5" fmla="*/ 228823 h 453496"/>
              <a:gd name="connsiteX6" fmla="*/ 259748 w 262315"/>
              <a:gd name="connsiteY6" fmla="*/ 228823 h 453496"/>
              <a:gd name="connsiteX7" fmla="*/ 126548 w 262315"/>
              <a:gd name="connsiteY7" fmla="*/ 453496 h 453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315" h="453496">
                <a:moveTo>
                  <a:pt x="0" y="4238"/>
                </a:moveTo>
                <a:lnTo>
                  <a:pt x="121356" y="0"/>
                </a:lnTo>
                <a:lnTo>
                  <a:pt x="262315" y="219888"/>
                </a:lnTo>
                <a:lnTo>
                  <a:pt x="140961" y="224125"/>
                </a:lnTo>
                <a:close/>
                <a:moveTo>
                  <a:pt x="5119" y="453496"/>
                </a:moveTo>
                <a:lnTo>
                  <a:pt x="138319" y="228823"/>
                </a:lnTo>
                <a:lnTo>
                  <a:pt x="259748" y="228823"/>
                </a:lnTo>
                <a:lnTo>
                  <a:pt x="126548" y="453496"/>
                </a:lnTo>
                <a:close/>
              </a:path>
            </a:pathLst>
          </a:custGeom>
          <a:solidFill>
            <a:srgbClr val="D2E1DB"/>
          </a:solidFill>
          <a:ln>
            <a:solidFill>
              <a:srgbClr val="D2E1D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917B9DF3-76F0-4EF8-808D-8826DC401C2B}"/>
              </a:ext>
            </a:extLst>
          </p:cNvPr>
          <p:cNvSpPr/>
          <p:nvPr/>
        </p:nvSpPr>
        <p:spPr>
          <a:xfrm rot="5460000">
            <a:off x="9522874" y="3931293"/>
            <a:ext cx="262315" cy="453496"/>
          </a:xfrm>
          <a:custGeom>
            <a:avLst/>
            <a:gdLst>
              <a:gd name="connsiteX0" fmla="*/ 0 w 262315"/>
              <a:gd name="connsiteY0" fmla="*/ 4238 h 453496"/>
              <a:gd name="connsiteX1" fmla="*/ 121356 w 262315"/>
              <a:gd name="connsiteY1" fmla="*/ 0 h 453496"/>
              <a:gd name="connsiteX2" fmla="*/ 262315 w 262315"/>
              <a:gd name="connsiteY2" fmla="*/ 219888 h 453496"/>
              <a:gd name="connsiteX3" fmla="*/ 140961 w 262315"/>
              <a:gd name="connsiteY3" fmla="*/ 224125 h 453496"/>
              <a:gd name="connsiteX4" fmla="*/ 5119 w 262315"/>
              <a:gd name="connsiteY4" fmla="*/ 453496 h 453496"/>
              <a:gd name="connsiteX5" fmla="*/ 138319 w 262315"/>
              <a:gd name="connsiteY5" fmla="*/ 228823 h 453496"/>
              <a:gd name="connsiteX6" fmla="*/ 259748 w 262315"/>
              <a:gd name="connsiteY6" fmla="*/ 228823 h 453496"/>
              <a:gd name="connsiteX7" fmla="*/ 126548 w 262315"/>
              <a:gd name="connsiteY7" fmla="*/ 453496 h 453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315" h="453496">
                <a:moveTo>
                  <a:pt x="0" y="4238"/>
                </a:moveTo>
                <a:lnTo>
                  <a:pt x="121356" y="0"/>
                </a:lnTo>
                <a:lnTo>
                  <a:pt x="262315" y="219888"/>
                </a:lnTo>
                <a:lnTo>
                  <a:pt x="140961" y="224125"/>
                </a:lnTo>
                <a:close/>
                <a:moveTo>
                  <a:pt x="5119" y="453496"/>
                </a:moveTo>
                <a:lnTo>
                  <a:pt x="138319" y="228823"/>
                </a:lnTo>
                <a:lnTo>
                  <a:pt x="259748" y="228823"/>
                </a:lnTo>
                <a:lnTo>
                  <a:pt x="126548" y="453496"/>
                </a:lnTo>
                <a:close/>
              </a:path>
            </a:pathLst>
          </a:custGeom>
          <a:solidFill>
            <a:srgbClr val="CAC4E0"/>
          </a:solidFill>
          <a:ln>
            <a:solidFill>
              <a:srgbClr val="CAC4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F52820F5-E1FC-4D22-BCB3-CC53B6C372D8}"/>
              </a:ext>
            </a:extLst>
          </p:cNvPr>
          <p:cNvSpPr/>
          <p:nvPr/>
        </p:nvSpPr>
        <p:spPr>
          <a:xfrm rot="5460000">
            <a:off x="10903010" y="3929397"/>
            <a:ext cx="262315" cy="453496"/>
          </a:xfrm>
          <a:custGeom>
            <a:avLst/>
            <a:gdLst>
              <a:gd name="connsiteX0" fmla="*/ 0 w 262315"/>
              <a:gd name="connsiteY0" fmla="*/ 4238 h 453496"/>
              <a:gd name="connsiteX1" fmla="*/ 121356 w 262315"/>
              <a:gd name="connsiteY1" fmla="*/ 0 h 453496"/>
              <a:gd name="connsiteX2" fmla="*/ 262315 w 262315"/>
              <a:gd name="connsiteY2" fmla="*/ 219888 h 453496"/>
              <a:gd name="connsiteX3" fmla="*/ 140961 w 262315"/>
              <a:gd name="connsiteY3" fmla="*/ 224125 h 453496"/>
              <a:gd name="connsiteX4" fmla="*/ 5119 w 262315"/>
              <a:gd name="connsiteY4" fmla="*/ 453496 h 453496"/>
              <a:gd name="connsiteX5" fmla="*/ 138319 w 262315"/>
              <a:gd name="connsiteY5" fmla="*/ 228823 h 453496"/>
              <a:gd name="connsiteX6" fmla="*/ 259748 w 262315"/>
              <a:gd name="connsiteY6" fmla="*/ 228823 h 453496"/>
              <a:gd name="connsiteX7" fmla="*/ 126548 w 262315"/>
              <a:gd name="connsiteY7" fmla="*/ 453496 h 453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315" h="453496">
                <a:moveTo>
                  <a:pt x="0" y="4238"/>
                </a:moveTo>
                <a:lnTo>
                  <a:pt x="121356" y="0"/>
                </a:lnTo>
                <a:lnTo>
                  <a:pt x="262315" y="219888"/>
                </a:lnTo>
                <a:lnTo>
                  <a:pt x="140961" y="224125"/>
                </a:lnTo>
                <a:close/>
                <a:moveTo>
                  <a:pt x="5119" y="453496"/>
                </a:moveTo>
                <a:lnTo>
                  <a:pt x="138319" y="228823"/>
                </a:lnTo>
                <a:lnTo>
                  <a:pt x="259748" y="228823"/>
                </a:lnTo>
                <a:lnTo>
                  <a:pt x="126548" y="453496"/>
                </a:lnTo>
                <a:close/>
              </a:path>
            </a:pathLst>
          </a:custGeom>
          <a:solidFill>
            <a:srgbClr val="CAC4E0"/>
          </a:solidFill>
          <a:ln>
            <a:solidFill>
              <a:srgbClr val="CAC4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箭头: 下 43">
            <a:extLst>
              <a:ext uri="{FF2B5EF4-FFF2-40B4-BE49-F238E27FC236}">
                <a16:creationId xmlns:a16="http://schemas.microsoft.com/office/drawing/2014/main" id="{8503063D-7637-4EDF-BE05-11CF1E4E373D}"/>
              </a:ext>
            </a:extLst>
          </p:cNvPr>
          <p:cNvSpPr/>
          <p:nvPr/>
        </p:nvSpPr>
        <p:spPr>
          <a:xfrm rot="3917286">
            <a:off x="4492347" y="846067"/>
            <a:ext cx="309711" cy="1721046"/>
          </a:xfrm>
          <a:prstGeom prst="downArrow">
            <a:avLst/>
          </a:prstGeom>
          <a:solidFill>
            <a:srgbClr val="B3CFC4"/>
          </a:solidFill>
          <a:ln>
            <a:solidFill>
              <a:srgbClr val="B3CF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箭头: 下 45">
            <a:extLst>
              <a:ext uri="{FF2B5EF4-FFF2-40B4-BE49-F238E27FC236}">
                <a16:creationId xmlns:a16="http://schemas.microsoft.com/office/drawing/2014/main" id="{C38CBDEE-61E6-4CBC-8C6D-0DEDB96CB802}"/>
              </a:ext>
            </a:extLst>
          </p:cNvPr>
          <p:cNvSpPr/>
          <p:nvPr/>
        </p:nvSpPr>
        <p:spPr>
          <a:xfrm rot="17682714" flipH="1">
            <a:off x="9392922" y="765139"/>
            <a:ext cx="309711" cy="1721046"/>
          </a:xfrm>
          <a:prstGeom prst="downArrow">
            <a:avLst/>
          </a:prstGeom>
          <a:solidFill>
            <a:srgbClr val="A5A5E1"/>
          </a:solidFill>
          <a:ln>
            <a:solidFill>
              <a:srgbClr val="A5A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7B2F65D7-822C-4907-97A4-DB88AE5B275C}"/>
              </a:ext>
            </a:extLst>
          </p:cNvPr>
          <p:cNvSpPr/>
          <p:nvPr/>
        </p:nvSpPr>
        <p:spPr>
          <a:xfrm>
            <a:off x="653777" y="4291240"/>
            <a:ext cx="11088643" cy="760643"/>
          </a:xfrm>
          <a:prstGeom prst="rect">
            <a:avLst/>
          </a:prstGeom>
          <a:noFill/>
          <a:ln w="38100">
            <a:solidFill>
              <a:srgbClr val="87C6E3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6E2CBA3D-434A-452E-816F-99AA2C1B3D94}"/>
              </a:ext>
            </a:extLst>
          </p:cNvPr>
          <p:cNvSpPr txBox="1"/>
          <p:nvPr/>
        </p:nvSpPr>
        <p:spPr>
          <a:xfrm>
            <a:off x="496480" y="4478629"/>
            <a:ext cx="1577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C175E73-E865-4929-8FAD-DB143A2E2334}"/>
              </a:ext>
            </a:extLst>
          </p:cNvPr>
          <p:cNvSpPr txBox="1"/>
          <p:nvPr/>
        </p:nvSpPr>
        <p:spPr>
          <a:xfrm>
            <a:off x="465467" y="5664681"/>
            <a:ext cx="15772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Weaknesses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2A6F73D-D639-4544-BE61-EBCFA0BE18E3}"/>
              </a:ext>
            </a:extLst>
          </p:cNvPr>
          <p:cNvSpPr/>
          <p:nvPr/>
        </p:nvSpPr>
        <p:spPr>
          <a:xfrm>
            <a:off x="653777" y="5315965"/>
            <a:ext cx="11088643" cy="1033675"/>
          </a:xfrm>
          <a:prstGeom prst="rect">
            <a:avLst/>
          </a:prstGeom>
          <a:noFill/>
          <a:ln w="38100">
            <a:solidFill>
              <a:srgbClr val="F7D28C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C911BD25-4CA9-4E1C-B238-86ECC6153DCB}"/>
              </a:ext>
            </a:extLst>
          </p:cNvPr>
          <p:cNvSpPr/>
          <p:nvPr/>
        </p:nvSpPr>
        <p:spPr>
          <a:xfrm>
            <a:off x="498763" y="645976"/>
            <a:ext cx="2219231" cy="2219231"/>
          </a:xfrm>
          <a:prstGeom prst="ellipse">
            <a:avLst/>
          </a:prstGeom>
          <a:noFill/>
          <a:ln w="57150">
            <a:solidFill>
              <a:srgbClr val="DF87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4C028D9F-FBC6-41EE-B194-739D86FD79BB}"/>
              </a:ext>
            </a:extLst>
          </p:cNvPr>
          <p:cNvSpPr txBox="1"/>
          <p:nvPr/>
        </p:nvSpPr>
        <p:spPr>
          <a:xfrm>
            <a:off x="582711" y="1104216"/>
            <a:ext cx="214411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D53E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</a:p>
          <a:p>
            <a:pPr algn="ctr"/>
            <a:r>
              <a:rPr lang="en-US" altLang="zh-CN" sz="2800" b="1" dirty="0">
                <a:solidFill>
                  <a:srgbClr val="D53E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  <a:p>
            <a:pPr algn="ctr"/>
            <a:r>
              <a:rPr lang="en-US" altLang="zh-CN" sz="2800" b="1" dirty="0">
                <a:solidFill>
                  <a:srgbClr val="D53E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</a:t>
            </a:r>
            <a:endParaRPr lang="zh-CN" altLang="en-US" sz="2800" b="1" dirty="0">
              <a:solidFill>
                <a:srgbClr val="D53E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7073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2CBD68B6-E373-43F0-B1BF-205DAF27A73E}"/>
              </a:ext>
            </a:extLst>
          </p:cNvPr>
          <p:cNvSpPr/>
          <p:nvPr/>
        </p:nvSpPr>
        <p:spPr>
          <a:xfrm>
            <a:off x="1230235" y="3193676"/>
            <a:ext cx="4987684" cy="2506083"/>
          </a:xfrm>
          <a:prstGeom prst="rect">
            <a:avLst/>
          </a:prstGeom>
          <a:solidFill>
            <a:srgbClr val="EDF4FA"/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3BDF634-31B5-404C-B4D9-15F1E75A1461}"/>
              </a:ext>
            </a:extLst>
          </p:cNvPr>
          <p:cNvSpPr/>
          <p:nvPr/>
        </p:nvSpPr>
        <p:spPr>
          <a:xfrm>
            <a:off x="6998837" y="3193676"/>
            <a:ext cx="4878202" cy="2506083"/>
          </a:xfrm>
          <a:prstGeom prst="rect">
            <a:avLst/>
          </a:prstGeom>
          <a:solidFill>
            <a:srgbClr val="FDECEC"/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98E2A0A-AA61-4C01-8396-69BC4A9481E1}"/>
              </a:ext>
            </a:extLst>
          </p:cNvPr>
          <p:cNvSpPr/>
          <p:nvPr/>
        </p:nvSpPr>
        <p:spPr>
          <a:xfrm>
            <a:off x="6998837" y="675631"/>
            <a:ext cx="4878203" cy="2194560"/>
          </a:xfrm>
          <a:prstGeom prst="rect">
            <a:avLst/>
          </a:prstGeom>
          <a:solidFill>
            <a:srgbClr val="EFF6EB"/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482151B-B873-4E48-A4AC-1C3555E407BA}"/>
              </a:ext>
            </a:extLst>
          </p:cNvPr>
          <p:cNvSpPr/>
          <p:nvPr/>
        </p:nvSpPr>
        <p:spPr>
          <a:xfrm>
            <a:off x="1230235" y="711200"/>
            <a:ext cx="4987685" cy="2194560"/>
          </a:xfrm>
          <a:prstGeom prst="rect">
            <a:avLst/>
          </a:prstGeom>
          <a:solidFill>
            <a:srgbClr val="FFF9E5"/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9D4A4DF-EB21-4A9D-9C58-B930DBBB0B51}"/>
              </a:ext>
            </a:extLst>
          </p:cNvPr>
          <p:cNvSpPr/>
          <p:nvPr/>
        </p:nvSpPr>
        <p:spPr>
          <a:xfrm>
            <a:off x="1554552" y="1981033"/>
            <a:ext cx="2015490" cy="842010"/>
          </a:xfrm>
          <a:prstGeom prst="rect">
            <a:avLst/>
          </a:prstGeom>
          <a:solidFill>
            <a:srgbClr val="F2F8ED"/>
          </a:solidFill>
          <a:ln w="19050">
            <a:solidFill>
              <a:srgbClr val="8CA96E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F8A522B-1A4C-4C93-99EA-D16F1E0157A5}"/>
              </a:ext>
            </a:extLst>
          </p:cNvPr>
          <p:cNvSpPr/>
          <p:nvPr/>
        </p:nvSpPr>
        <p:spPr>
          <a:xfrm>
            <a:off x="3975354" y="985078"/>
            <a:ext cx="2066544" cy="476004"/>
          </a:xfrm>
          <a:prstGeom prst="rect">
            <a:avLst/>
          </a:prstGeom>
          <a:solidFill>
            <a:srgbClr val="7D7C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A048670-3AA9-4520-B299-737069837C4C}"/>
              </a:ext>
            </a:extLst>
          </p:cNvPr>
          <p:cNvSpPr/>
          <p:nvPr/>
        </p:nvSpPr>
        <p:spPr>
          <a:xfrm>
            <a:off x="1426464" y="1285277"/>
            <a:ext cx="1591056" cy="329184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8C7AF60-72B9-473C-B57C-EE6A45912C10}"/>
              </a:ext>
            </a:extLst>
          </p:cNvPr>
          <p:cNvSpPr/>
          <p:nvPr/>
        </p:nvSpPr>
        <p:spPr>
          <a:xfrm>
            <a:off x="1426464" y="853441"/>
            <a:ext cx="1591056" cy="329184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E5233E9-48DF-4E19-B00B-0CACF626A2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91816" y="336663"/>
            <a:ext cx="2375959" cy="129682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D42F615-B00C-4278-BE1A-BDC7D4E83AE0}"/>
              </a:ext>
            </a:extLst>
          </p:cNvPr>
          <p:cNvSpPr txBox="1"/>
          <p:nvPr/>
        </p:nvSpPr>
        <p:spPr>
          <a:xfrm>
            <a:off x="1275955" y="239216"/>
            <a:ext cx="5885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Problem1:Predict the number of the reported results</a:t>
            </a:r>
            <a:endParaRPr lang="zh-CN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2FCB02A-98DB-43DD-AB29-C236EB24660E}"/>
              </a:ext>
            </a:extLst>
          </p:cNvPr>
          <p:cNvSpPr txBox="1"/>
          <p:nvPr/>
        </p:nvSpPr>
        <p:spPr>
          <a:xfrm>
            <a:off x="1113045" y="5820946"/>
            <a:ext cx="5885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Problem2:Predict the distribution of the reported results</a:t>
            </a:r>
            <a:endParaRPr lang="zh-CN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9275040-13CF-45B6-ACCA-950AAED74186}"/>
              </a:ext>
            </a:extLst>
          </p:cNvPr>
          <p:cNvSpPr txBox="1"/>
          <p:nvPr/>
        </p:nvSpPr>
        <p:spPr>
          <a:xfrm>
            <a:off x="6998839" y="239216"/>
            <a:ext cx="5025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Problem3:Classify words by difficulty</a:t>
            </a:r>
            <a:endParaRPr lang="zh-CN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2AD70FA-0439-479D-8FDC-88BCE8651C86}"/>
              </a:ext>
            </a:extLst>
          </p:cNvPr>
          <p:cNvSpPr txBox="1"/>
          <p:nvPr/>
        </p:nvSpPr>
        <p:spPr>
          <a:xfrm>
            <a:off x="6998838" y="5820946"/>
            <a:ext cx="5025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Problem4:Some interesting features</a:t>
            </a:r>
            <a:endParaRPr lang="zh-CN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C224A43-6B5F-47AD-9926-D82B56D292CE}"/>
              </a:ext>
            </a:extLst>
          </p:cNvPr>
          <p:cNvSpPr txBox="1"/>
          <p:nvPr/>
        </p:nvSpPr>
        <p:spPr>
          <a:xfrm>
            <a:off x="1592001" y="851641"/>
            <a:ext cx="12599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ARIMA model</a:t>
            </a:r>
            <a:endParaRPr lang="zh-CN" altLang="en-US" sz="14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CCF010F-3E1B-4DF9-8878-0E154DC46F14}"/>
              </a:ext>
            </a:extLst>
          </p:cNvPr>
          <p:cNvSpPr txBox="1"/>
          <p:nvPr/>
        </p:nvSpPr>
        <p:spPr>
          <a:xfrm>
            <a:off x="1647022" y="1301475"/>
            <a:ext cx="12599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LSTM model</a:t>
            </a:r>
            <a:endParaRPr lang="zh-CN" altLang="en-US" sz="14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右中括号 18">
            <a:extLst>
              <a:ext uri="{FF2B5EF4-FFF2-40B4-BE49-F238E27FC236}">
                <a16:creationId xmlns:a16="http://schemas.microsoft.com/office/drawing/2014/main" id="{E85D9E06-6B11-4096-8FB0-E599D774DE7A}"/>
              </a:ext>
            </a:extLst>
          </p:cNvPr>
          <p:cNvSpPr/>
          <p:nvPr/>
        </p:nvSpPr>
        <p:spPr>
          <a:xfrm>
            <a:off x="3149565" y="896464"/>
            <a:ext cx="146304" cy="585216"/>
          </a:xfrm>
          <a:prstGeom prst="rightBracket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0BD8506A-52D3-41D2-998E-0A4E0D7CD317}"/>
              </a:ext>
            </a:extLst>
          </p:cNvPr>
          <p:cNvCxnSpPr/>
          <p:nvPr/>
        </p:nvCxnSpPr>
        <p:spPr>
          <a:xfrm>
            <a:off x="3335874" y="1189072"/>
            <a:ext cx="59947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5DC62F85-81AB-44DA-B560-ABC9DD250F0F}"/>
              </a:ext>
            </a:extLst>
          </p:cNvPr>
          <p:cNvSpPr txBox="1"/>
          <p:nvPr/>
        </p:nvSpPr>
        <p:spPr>
          <a:xfrm>
            <a:off x="3969258" y="1003039"/>
            <a:ext cx="2145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 interval for the number of the reported results</a:t>
            </a:r>
            <a:endParaRPr lang="zh-CN" altLang="en-US" sz="12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89B70D7-3094-469C-A337-0646E5D8685B}"/>
              </a:ext>
            </a:extLst>
          </p:cNvPr>
          <p:cNvSpPr txBox="1"/>
          <p:nvPr/>
        </p:nvSpPr>
        <p:spPr>
          <a:xfrm>
            <a:off x="1323594" y="1679637"/>
            <a:ext cx="2145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 of the word</a:t>
            </a:r>
            <a:endParaRPr lang="zh-CN" altLang="en-US" sz="1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C412351-5902-43D3-AEA5-6276E3A6DC37}"/>
              </a:ext>
            </a:extLst>
          </p:cNvPr>
          <p:cNvSpPr/>
          <p:nvPr/>
        </p:nvSpPr>
        <p:spPr>
          <a:xfrm>
            <a:off x="1504950" y="2014824"/>
            <a:ext cx="1165860" cy="182880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commonness rating</a:t>
            </a:r>
            <a:endParaRPr lang="zh-CN" altLang="en-US" sz="8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3DFC9B1-7B3E-4853-9BD5-D1F25995147E}"/>
              </a:ext>
            </a:extLst>
          </p:cNvPr>
          <p:cNvSpPr/>
          <p:nvPr/>
        </p:nvSpPr>
        <p:spPr>
          <a:xfrm>
            <a:off x="2705319" y="2011059"/>
            <a:ext cx="630555" cy="182880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entropy</a:t>
            </a:r>
            <a:endParaRPr lang="zh-CN" altLang="en-US" sz="8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598BADC-12C0-40BC-9039-DF2038DD79AD}"/>
              </a:ext>
            </a:extLst>
          </p:cNvPr>
          <p:cNvSpPr/>
          <p:nvPr/>
        </p:nvSpPr>
        <p:spPr>
          <a:xfrm>
            <a:off x="2432904" y="2296591"/>
            <a:ext cx="902970" cy="182880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letters</a:t>
            </a:r>
            <a:endParaRPr lang="zh-CN" altLang="en-US" sz="8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7B6E0DE-E184-44E6-90F5-3850027135FC}"/>
              </a:ext>
            </a:extLst>
          </p:cNvPr>
          <p:cNvSpPr/>
          <p:nvPr/>
        </p:nvSpPr>
        <p:spPr>
          <a:xfrm>
            <a:off x="1504950" y="2555226"/>
            <a:ext cx="1842315" cy="182880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vowels</a:t>
            </a:r>
            <a:endParaRPr lang="zh-CN" altLang="en-US" sz="8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8E89545-CF30-4050-8C83-4FCFFADD6B4C}"/>
              </a:ext>
            </a:extLst>
          </p:cNvPr>
          <p:cNvSpPr/>
          <p:nvPr/>
        </p:nvSpPr>
        <p:spPr>
          <a:xfrm>
            <a:off x="1504950" y="2296591"/>
            <a:ext cx="902970" cy="182880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frequency</a:t>
            </a:r>
            <a:endParaRPr lang="zh-CN" altLang="en-US" sz="8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E9D64FF-11B8-4DD4-B9B6-85A2B4C53C37}"/>
              </a:ext>
            </a:extLst>
          </p:cNvPr>
          <p:cNvSpPr/>
          <p:nvPr/>
        </p:nvSpPr>
        <p:spPr>
          <a:xfrm>
            <a:off x="3987345" y="1951732"/>
            <a:ext cx="2054553" cy="344859"/>
          </a:xfrm>
          <a:prstGeom prst="rect">
            <a:avLst/>
          </a:prstGeom>
          <a:solidFill>
            <a:srgbClr val="C35A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CN" sz="1100" b="1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precentage</a:t>
            </a:r>
            <a:r>
              <a:rPr lang="en-US" altLang="zh-CN" sz="11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 Hard Mode</a:t>
            </a:r>
            <a:endParaRPr lang="zh-CN" altLang="en-US" sz="11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40CF1BA-64B0-402B-90CC-055BB3D559D5}"/>
              </a:ext>
            </a:extLst>
          </p:cNvPr>
          <p:cNvSpPr/>
          <p:nvPr/>
        </p:nvSpPr>
        <p:spPr>
          <a:xfrm>
            <a:off x="3981349" y="2442608"/>
            <a:ext cx="2054553" cy="344859"/>
          </a:xfrm>
          <a:prstGeom prst="rect">
            <a:avLst/>
          </a:prstGeom>
          <a:solidFill>
            <a:srgbClr val="C35A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percentage of (1,2,3,4,5,6,X)</a:t>
            </a:r>
            <a:endParaRPr lang="zh-CN" altLang="en-US" sz="11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B33983A8-AC59-4306-B7EB-D9F96FC03BE1}"/>
              </a:ext>
            </a:extLst>
          </p:cNvPr>
          <p:cNvCxnSpPr/>
          <p:nvPr/>
        </p:nvCxnSpPr>
        <p:spPr>
          <a:xfrm flipV="1">
            <a:off x="3404274" y="2125980"/>
            <a:ext cx="564984" cy="23368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F10FCA09-C4C0-4E34-935D-CCB9DBAC481E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3386187" y="2359660"/>
            <a:ext cx="595162" cy="25537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3325C61B-CFE1-4112-A5C9-58AB26B9A747}"/>
              </a:ext>
            </a:extLst>
          </p:cNvPr>
          <p:cNvSpPr txBox="1"/>
          <p:nvPr/>
        </p:nvSpPr>
        <p:spPr>
          <a:xfrm>
            <a:off x="7048367" y="929748"/>
            <a:ext cx="14403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 and new </a:t>
            </a:r>
          </a:p>
          <a:p>
            <a:pPr algn="ctr"/>
            <a:r>
              <a:rPr lang="en-US" altLang="zh-CN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 of a word</a:t>
            </a:r>
            <a:endParaRPr lang="zh-CN" altLang="en-US" sz="11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5BD0A8F-880A-45F2-AF6F-83C1B5BE7F82}"/>
              </a:ext>
            </a:extLst>
          </p:cNvPr>
          <p:cNvSpPr txBox="1"/>
          <p:nvPr/>
        </p:nvSpPr>
        <p:spPr>
          <a:xfrm>
            <a:off x="6971230" y="1949114"/>
            <a:ext cx="15945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 Level:</a:t>
            </a:r>
          </a:p>
          <a:p>
            <a:pPr algn="ctr"/>
            <a:r>
              <a:rPr lang="en-US" altLang="zh-CN" sz="1100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medium difficult</a:t>
            </a:r>
            <a:endParaRPr lang="zh-CN" altLang="en-US" sz="1100" b="1" i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FB91775-F306-4448-B1F5-9C2E4F28FD84}"/>
              </a:ext>
            </a:extLst>
          </p:cNvPr>
          <p:cNvSpPr/>
          <p:nvPr/>
        </p:nvSpPr>
        <p:spPr>
          <a:xfrm>
            <a:off x="8709661" y="940418"/>
            <a:ext cx="918210" cy="344859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PCA</a:t>
            </a:r>
            <a:endParaRPr lang="zh-CN" altLang="en-US" sz="11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FF65169-992F-4E83-B1D0-AFBD14666292}"/>
              </a:ext>
            </a:extLst>
          </p:cNvPr>
          <p:cNvSpPr/>
          <p:nvPr/>
        </p:nvSpPr>
        <p:spPr>
          <a:xfrm>
            <a:off x="8709661" y="1732874"/>
            <a:ext cx="918210" cy="344859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GMM</a:t>
            </a:r>
            <a:endParaRPr lang="zh-CN" altLang="en-US" sz="11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41EDC3B3-EE19-446D-8996-B4F7A104F7B3}"/>
              </a:ext>
            </a:extLst>
          </p:cNvPr>
          <p:cNvCxnSpPr>
            <a:cxnSpLocks/>
          </p:cNvCxnSpPr>
          <p:nvPr/>
        </p:nvCxnSpPr>
        <p:spPr>
          <a:xfrm flipV="1">
            <a:off x="8441055" y="1112847"/>
            <a:ext cx="19431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D977D846-2E26-4B42-A82D-E85247CCD368}"/>
              </a:ext>
            </a:extLst>
          </p:cNvPr>
          <p:cNvCxnSpPr>
            <a:cxnSpLocks/>
          </p:cNvCxnSpPr>
          <p:nvPr/>
        </p:nvCxnSpPr>
        <p:spPr>
          <a:xfrm>
            <a:off x="9168766" y="1325843"/>
            <a:ext cx="0" cy="35379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右中括号 47">
            <a:extLst>
              <a:ext uri="{FF2B5EF4-FFF2-40B4-BE49-F238E27FC236}">
                <a16:creationId xmlns:a16="http://schemas.microsoft.com/office/drawing/2014/main" id="{08DDA3A9-9BF4-4A34-9ED9-BAA2FCF3002D}"/>
              </a:ext>
            </a:extLst>
          </p:cNvPr>
          <p:cNvSpPr/>
          <p:nvPr/>
        </p:nvSpPr>
        <p:spPr>
          <a:xfrm rot="10800000">
            <a:off x="9748532" y="840475"/>
            <a:ext cx="146304" cy="585216"/>
          </a:xfrm>
          <a:prstGeom prst="rightBracket">
            <a:avLst/>
          </a:prstGeom>
          <a:ln w="19050">
            <a:solidFill>
              <a:srgbClr val="8CA96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A76120A-0DFF-4922-ADFF-39FE1D670DCB}"/>
              </a:ext>
            </a:extLst>
          </p:cNvPr>
          <p:cNvSpPr/>
          <p:nvPr/>
        </p:nvSpPr>
        <p:spPr>
          <a:xfrm>
            <a:off x="9944549" y="836436"/>
            <a:ext cx="630686" cy="276411"/>
          </a:xfrm>
          <a:prstGeom prst="rect">
            <a:avLst/>
          </a:prstGeom>
          <a:solidFill>
            <a:srgbClr val="C5E0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59198EBB-DA65-4413-89AF-811BCC1FFDBD}"/>
              </a:ext>
            </a:extLst>
          </p:cNvPr>
          <p:cNvSpPr/>
          <p:nvPr/>
        </p:nvSpPr>
        <p:spPr>
          <a:xfrm>
            <a:off x="10649433" y="836435"/>
            <a:ext cx="960236" cy="276411"/>
          </a:xfrm>
          <a:prstGeom prst="rect">
            <a:avLst/>
          </a:prstGeom>
          <a:solidFill>
            <a:srgbClr val="C5E0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semantics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62CE0516-69E7-49AA-9AF9-A3D05270E239}"/>
              </a:ext>
            </a:extLst>
          </p:cNvPr>
          <p:cNvSpPr/>
          <p:nvPr/>
        </p:nvSpPr>
        <p:spPr>
          <a:xfrm>
            <a:off x="9949688" y="1173458"/>
            <a:ext cx="1659981" cy="276411"/>
          </a:xfrm>
          <a:prstGeom prst="rect">
            <a:avLst/>
          </a:prstGeom>
          <a:solidFill>
            <a:srgbClr val="C5E0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phonetic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40B1F17F-BA55-49DF-BFDF-65F28E4334DB}"/>
              </a:ext>
            </a:extLst>
          </p:cNvPr>
          <p:cNvCxnSpPr>
            <a:cxnSpLocks/>
          </p:cNvCxnSpPr>
          <p:nvPr/>
        </p:nvCxnSpPr>
        <p:spPr>
          <a:xfrm>
            <a:off x="9821684" y="1876425"/>
            <a:ext cx="31863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0FB4D90B-9B7D-43D0-8085-15C6ED7547DC}"/>
              </a:ext>
            </a:extLst>
          </p:cNvPr>
          <p:cNvCxnSpPr>
            <a:cxnSpLocks/>
          </p:cNvCxnSpPr>
          <p:nvPr/>
        </p:nvCxnSpPr>
        <p:spPr>
          <a:xfrm>
            <a:off x="10965180" y="2082489"/>
            <a:ext cx="0" cy="32066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>
            <a:extLst>
              <a:ext uri="{FF2B5EF4-FFF2-40B4-BE49-F238E27FC236}">
                <a16:creationId xmlns:a16="http://schemas.microsoft.com/office/drawing/2014/main" id="{FF33A3E6-393A-4DC8-9B52-D537E5385950}"/>
              </a:ext>
            </a:extLst>
          </p:cNvPr>
          <p:cNvSpPr/>
          <p:nvPr/>
        </p:nvSpPr>
        <p:spPr>
          <a:xfrm>
            <a:off x="10317198" y="1703998"/>
            <a:ext cx="1352478" cy="344853"/>
          </a:xfrm>
          <a:prstGeom prst="rect">
            <a:avLst/>
          </a:prstGeom>
          <a:solidFill>
            <a:srgbClr val="C5E0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Words’ difficulty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11D7E0ED-0D04-4EAE-8396-CB2B39175321}"/>
              </a:ext>
            </a:extLst>
          </p:cNvPr>
          <p:cNvSpPr/>
          <p:nvPr/>
        </p:nvSpPr>
        <p:spPr>
          <a:xfrm>
            <a:off x="10290559" y="2433710"/>
            <a:ext cx="1352478" cy="344853"/>
          </a:xfrm>
          <a:prstGeom prst="rect">
            <a:avLst/>
          </a:prstGeom>
          <a:solidFill>
            <a:srgbClr val="5382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Classify “EERIE”</a:t>
            </a:r>
            <a:endParaRPr lang="zh-CN" altLang="en-US" sz="11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02CDBD59-B332-4509-A605-986E3BEF936B}"/>
              </a:ext>
            </a:extLst>
          </p:cNvPr>
          <p:cNvSpPr/>
          <p:nvPr/>
        </p:nvSpPr>
        <p:spPr>
          <a:xfrm>
            <a:off x="8492527" y="2421405"/>
            <a:ext cx="1352478" cy="344853"/>
          </a:xfrm>
          <a:prstGeom prst="rect">
            <a:avLst/>
          </a:prstGeom>
          <a:solidFill>
            <a:srgbClr val="C5E0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attributes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EEEF166C-9C4E-42C9-8864-3843F6BA1D9B}"/>
              </a:ext>
            </a:extLst>
          </p:cNvPr>
          <p:cNvCxnSpPr/>
          <p:nvPr/>
        </p:nvCxnSpPr>
        <p:spPr>
          <a:xfrm flipH="1">
            <a:off x="8380061" y="1911499"/>
            <a:ext cx="255304" cy="199338"/>
          </a:xfrm>
          <a:prstGeom prst="straightConnector1">
            <a:avLst/>
          </a:prstGeom>
          <a:ln w="19050">
            <a:solidFill>
              <a:srgbClr val="538234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087E5393-06C4-41F7-BA1E-5C21040D23EE}"/>
              </a:ext>
            </a:extLst>
          </p:cNvPr>
          <p:cNvCxnSpPr>
            <a:cxnSpLocks/>
          </p:cNvCxnSpPr>
          <p:nvPr/>
        </p:nvCxnSpPr>
        <p:spPr>
          <a:xfrm>
            <a:off x="8215323" y="2415799"/>
            <a:ext cx="273357" cy="169626"/>
          </a:xfrm>
          <a:prstGeom prst="straightConnector1">
            <a:avLst/>
          </a:prstGeom>
          <a:ln w="19050">
            <a:solidFill>
              <a:srgbClr val="538234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>
            <a:extLst>
              <a:ext uri="{FF2B5EF4-FFF2-40B4-BE49-F238E27FC236}">
                <a16:creationId xmlns:a16="http://schemas.microsoft.com/office/drawing/2014/main" id="{C40EAEB7-77C6-4018-80CE-84EC36A4C132}"/>
              </a:ext>
            </a:extLst>
          </p:cNvPr>
          <p:cNvSpPr/>
          <p:nvPr/>
        </p:nvSpPr>
        <p:spPr>
          <a:xfrm>
            <a:off x="1545752" y="3523734"/>
            <a:ext cx="1361251" cy="38479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future word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309E65EC-877D-4D6D-AF31-3BDE0159D295}"/>
              </a:ext>
            </a:extLst>
          </p:cNvPr>
          <p:cNvSpPr/>
          <p:nvPr/>
        </p:nvSpPr>
        <p:spPr>
          <a:xfrm>
            <a:off x="1541365" y="4133380"/>
            <a:ext cx="1361251" cy="38479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future date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E0474266-4448-4203-9261-80C4C1F683D0}"/>
              </a:ext>
            </a:extLst>
          </p:cNvPr>
          <p:cNvSpPr/>
          <p:nvPr/>
        </p:nvSpPr>
        <p:spPr>
          <a:xfrm>
            <a:off x="1523147" y="4655836"/>
            <a:ext cx="1253073" cy="384796"/>
          </a:xfrm>
          <a:prstGeom prst="rect">
            <a:avLst/>
          </a:prstGeom>
          <a:solidFill>
            <a:srgbClr val="C1D3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models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6A14B2A0-0FC7-4116-9485-BC45B182FEF8}"/>
              </a:ext>
            </a:extLst>
          </p:cNvPr>
          <p:cNvSpPr/>
          <p:nvPr/>
        </p:nvSpPr>
        <p:spPr>
          <a:xfrm>
            <a:off x="1523147" y="5124071"/>
            <a:ext cx="1253073" cy="384796"/>
          </a:xfrm>
          <a:prstGeom prst="rect">
            <a:avLst/>
          </a:prstGeom>
          <a:solidFill>
            <a:srgbClr val="C1D3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 models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右中括号 70">
            <a:extLst>
              <a:ext uri="{FF2B5EF4-FFF2-40B4-BE49-F238E27FC236}">
                <a16:creationId xmlns:a16="http://schemas.microsoft.com/office/drawing/2014/main" id="{E275322E-D345-4209-A761-F5B29C18FD86}"/>
              </a:ext>
            </a:extLst>
          </p:cNvPr>
          <p:cNvSpPr/>
          <p:nvPr/>
        </p:nvSpPr>
        <p:spPr>
          <a:xfrm>
            <a:off x="2811237" y="4803378"/>
            <a:ext cx="146304" cy="585216"/>
          </a:xfrm>
          <a:prstGeom prst="rightBracket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EBDDFA4A-393B-4D86-A832-8CC0C7210738}"/>
              </a:ext>
            </a:extLst>
          </p:cNvPr>
          <p:cNvCxnSpPr>
            <a:cxnSpLocks/>
          </p:cNvCxnSpPr>
          <p:nvPr/>
        </p:nvCxnSpPr>
        <p:spPr>
          <a:xfrm flipV="1">
            <a:off x="3056535" y="5104801"/>
            <a:ext cx="279339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6A6BC6E8-AC80-49C5-B1E4-54577158FE80}"/>
              </a:ext>
            </a:extLst>
          </p:cNvPr>
          <p:cNvCxnSpPr>
            <a:cxnSpLocks/>
          </p:cNvCxnSpPr>
          <p:nvPr/>
        </p:nvCxnSpPr>
        <p:spPr>
          <a:xfrm flipV="1">
            <a:off x="4079181" y="4273296"/>
            <a:ext cx="0" cy="55845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4091B24E-8EE7-4E3F-BE6A-B14135100D48}"/>
              </a:ext>
            </a:extLst>
          </p:cNvPr>
          <p:cNvCxnSpPr>
            <a:stCxn id="67" idx="3"/>
          </p:cNvCxnSpPr>
          <p:nvPr/>
        </p:nvCxnSpPr>
        <p:spPr>
          <a:xfrm>
            <a:off x="2907003" y="3716132"/>
            <a:ext cx="479184" cy="27674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8BC034A0-7CDE-4162-BE4D-4002B6F6B268}"/>
              </a:ext>
            </a:extLst>
          </p:cNvPr>
          <p:cNvCxnSpPr>
            <a:cxnSpLocks/>
          </p:cNvCxnSpPr>
          <p:nvPr/>
        </p:nvCxnSpPr>
        <p:spPr>
          <a:xfrm flipV="1">
            <a:off x="2902616" y="3985157"/>
            <a:ext cx="483571" cy="33538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矩形 80">
            <a:extLst>
              <a:ext uri="{FF2B5EF4-FFF2-40B4-BE49-F238E27FC236}">
                <a16:creationId xmlns:a16="http://schemas.microsoft.com/office/drawing/2014/main" id="{B9CCC5E3-BA19-4FCB-9ADA-552E9619E618}"/>
              </a:ext>
            </a:extLst>
          </p:cNvPr>
          <p:cNvSpPr/>
          <p:nvPr/>
        </p:nvSpPr>
        <p:spPr>
          <a:xfrm>
            <a:off x="3375315" y="3753988"/>
            <a:ext cx="1361251" cy="45453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of the reported results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弧形 81">
            <a:extLst>
              <a:ext uri="{FF2B5EF4-FFF2-40B4-BE49-F238E27FC236}">
                <a16:creationId xmlns:a16="http://schemas.microsoft.com/office/drawing/2014/main" id="{C5AF1A8B-BBC2-48FD-9711-980BF94E4734}"/>
              </a:ext>
            </a:extLst>
          </p:cNvPr>
          <p:cNvSpPr/>
          <p:nvPr/>
        </p:nvSpPr>
        <p:spPr>
          <a:xfrm rot="14086265">
            <a:off x="5097218" y="3282291"/>
            <a:ext cx="1515391" cy="1515391"/>
          </a:xfrm>
          <a:prstGeom prst="arc">
            <a:avLst>
              <a:gd name="adj1" fmla="val 16200000"/>
              <a:gd name="adj2" fmla="val 20796819"/>
            </a:avLst>
          </a:prstGeom>
          <a:ln w="28575">
            <a:solidFill>
              <a:srgbClr val="8AA3B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74EE020F-971E-4328-8DAC-B08E94B0AA81}"/>
              </a:ext>
            </a:extLst>
          </p:cNvPr>
          <p:cNvCxnSpPr>
            <a:cxnSpLocks/>
            <a:stCxn id="81" idx="3"/>
          </p:cNvCxnSpPr>
          <p:nvPr/>
        </p:nvCxnSpPr>
        <p:spPr>
          <a:xfrm>
            <a:off x="4736566" y="3981255"/>
            <a:ext cx="353594" cy="0"/>
          </a:xfrm>
          <a:prstGeom prst="line">
            <a:avLst/>
          </a:prstGeom>
          <a:ln w="19050">
            <a:solidFill>
              <a:srgbClr val="97AD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D7DA87D0-A1B7-4474-840E-57729C93F398}"/>
              </a:ext>
            </a:extLst>
          </p:cNvPr>
          <p:cNvSpPr txBox="1"/>
          <p:nvPr/>
        </p:nvSpPr>
        <p:spPr>
          <a:xfrm>
            <a:off x="5326046" y="3277984"/>
            <a:ext cx="4880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try</a:t>
            </a:r>
            <a:endParaRPr lang="zh-CN" altLang="en-US" sz="1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5B9B98FB-D140-4E3F-9B00-2BA2FDAC4E53}"/>
              </a:ext>
            </a:extLst>
          </p:cNvPr>
          <p:cNvSpPr txBox="1"/>
          <p:nvPr/>
        </p:nvSpPr>
        <p:spPr>
          <a:xfrm>
            <a:off x="5320495" y="3577632"/>
            <a:ext cx="613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tries</a:t>
            </a:r>
            <a:endParaRPr lang="zh-CN" altLang="en-US" sz="1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228F853A-B574-4BD8-BE3D-F698E412A8E0}"/>
              </a:ext>
            </a:extLst>
          </p:cNvPr>
          <p:cNvSpPr txBox="1"/>
          <p:nvPr/>
        </p:nvSpPr>
        <p:spPr>
          <a:xfrm>
            <a:off x="5328477" y="4134838"/>
            <a:ext cx="613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tries </a:t>
            </a:r>
            <a:endParaRPr lang="zh-CN" altLang="en-US" sz="1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CCB62EBD-F285-4F31-B458-C40D83101DFB}"/>
              </a:ext>
            </a:extLst>
          </p:cNvPr>
          <p:cNvSpPr txBox="1"/>
          <p:nvPr/>
        </p:nvSpPr>
        <p:spPr>
          <a:xfrm>
            <a:off x="5318294" y="4497317"/>
            <a:ext cx="613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tries </a:t>
            </a:r>
            <a:endParaRPr lang="zh-CN" altLang="en-US" sz="1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4FA88C20-4DDB-4249-B94E-8BD18EF9FB32}"/>
              </a:ext>
            </a:extLst>
          </p:cNvPr>
          <p:cNvSpPr txBox="1"/>
          <p:nvPr/>
        </p:nvSpPr>
        <p:spPr>
          <a:xfrm rot="5400000">
            <a:off x="5426070" y="3802216"/>
            <a:ext cx="287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C6711EE0-7FD7-40BE-9973-9AC0A2393F97}"/>
              </a:ext>
            </a:extLst>
          </p:cNvPr>
          <p:cNvSpPr/>
          <p:nvPr/>
        </p:nvSpPr>
        <p:spPr>
          <a:xfrm>
            <a:off x="4770271" y="5253676"/>
            <a:ext cx="1361251" cy="298713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 “EERIE”</a:t>
            </a:r>
            <a:endParaRPr lang="zh-CN" altLang="en-US" sz="11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880CE8CA-41C1-4E15-9DDD-FC8AF92CACB1}"/>
              </a:ext>
            </a:extLst>
          </p:cNvPr>
          <p:cNvSpPr/>
          <p:nvPr/>
        </p:nvSpPr>
        <p:spPr>
          <a:xfrm>
            <a:off x="7137451" y="3496609"/>
            <a:ext cx="3071941" cy="323227"/>
          </a:xfrm>
          <a:prstGeom prst="rect">
            <a:avLst/>
          </a:prstGeom>
          <a:solidFill>
            <a:srgbClr val="FE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reported results varied over time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15CB0A04-2CCA-48A2-9083-A595CC65A021}"/>
              </a:ext>
            </a:extLst>
          </p:cNvPr>
          <p:cNvSpPr/>
          <p:nvPr/>
        </p:nvSpPr>
        <p:spPr>
          <a:xfrm>
            <a:off x="7137450" y="3974324"/>
            <a:ext cx="3071941" cy="323227"/>
          </a:xfrm>
          <a:prstGeom prst="rect">
            <a:avLst/>
          </a:prstGeom>
          <a:solidFill>
            <a:srgbClr val="FE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percent of Hard Mode over time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3CFDAC9C-F2C1-432E-B29F-F17891C644BC}"/>
              </a:ext>
            </a:extLst>
          </p:cNvPr>
          <p:cNvSpPr/>
          <p:nvPr/>
        </p:nvSpPr>
        <p:spPr>
          <a:xfrm>
            <a:off x="7137449" y="4452039"/>
            <a:ext cx="3071941" cy="323227"/>
          </a:xfrm>
          <a:prstGeom prst="rect">
            <a:avLst/>
          </a:prstGeom>
          <a:solidFill>
            <a:srgbClr val="FE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of the results(1,2,3,4,5,6,X)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F9DC5D47-071C-4D9F-9C8B-171FE19E1C3C}"/>
              </a:ext>
            </a:extLst>
          </p:cNvPr>
          <p:cNvSpPr/>
          <p:nvPr/>
        </p:nvSpPr>
        <p:spPr>
          <a:xfrm>
            <a:off x="7137448" y="4929754"/>
            <a:ext cx="3071941" cy="323227"/>
          </a:xfrm>
          <a:prstGeom prst="rect">
            <a:avLst/>
          </a:prstGeom>
          <a:solidFill>
            <a:srgbClr val="FE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proportion of the position of the 26 letters in the word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弧形 95">
            <a:extLst>
              <a:ext uri="{FF2B5EF4-FFF2-40B4-BE49-F238E27FC236}">
                <a16:creationId xmlns:a16="http://schemas.microsoft.com/office/drawing/2014/main" id="{6952E0FD-3854-49C2-B5CA-4E46A0A7D662}"/>
              </a:ext>
            </a:extLst>
          </p:cNvPr>
          <p:cNvSpPr/>
          <p:nvPr/>
        </p:nvSpPr>
        <p:spPr>
          <a:xfrm rot="3103803">
            <a:off x="9232441" y="3613544"/>
            <a:ext cx="1515391" cy="1515391"/>
          </a:xfrm>
          <a:prstGeom prst="arc">
            <a:avLst>
              <a:gd name="adj1" fmla="val 16200000"/>
              <a:gd name="adj2" fmla="val 20796819"/>
            </a:avLst>
          </a:prstGeom>
          <a:ln w="28575">
            <a:solidFill>
              <a:srgbClr val="FDA7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2555CC70-CE92-4F72-AF95-4C542D7B4821}"/>
              </a:ext>
            </a:extLst>
          </p:cNvPr>
          <p:cNvCxnSpPr>
            <a:cxnSpLocks/>
          </p:cNvCxnSpPr>
          <p:nvPr/>
        </p:nvCxnSpPr>
        <p:spPr>
          <a:xfrm flipH="1">
            <a:off x="10737795" y="4358946"/>
            <a:ext cx="351845" cy="2"/>
          </a:xfrm>
          <a:prstGeom prst="line">
            <a:avLst/>
          </a:prstGeom>
          <a:ln w="19050">
            <a:solidFill>
              <a:srgbClr val="FDA7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文本框 99">
            <a:extLst>
              <a:ext uri="{FF2B5EF4-FFF2-40B4-BE49-F238E27FC236}">
                <a16:creationId xmlns:a16="http://schemas.microsoft.com/office/drawing/2014/main" id="{F5D16B68-6792-4E2A-9784-4B78A7498C61}"/>
              </a:ext>
            </a:extLst>
          </p:cNvPr>
          <p:cNvSpPr txBox="1"/>
          <p:nvPr/>
        </p:nvSpPr>
        <p:spPr>
          <a:xfrm>
            <a:off x="10985586" y="4077458"/>
            <a:ext cx="896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i="1" dirty="0">
                <a:solidFill>
                  <a:srgbClr val="FD87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some</a:t>
            </a:r>
          </a:p>
          <a:p>
            <a:r>
              <a:rPr lang="en-US" altLang="zh-CN" sz="1200" b="1" i="1" dirty="0">
                <a:solidFill>
                  <a:srgbClr val="FD87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interesting </a:t>
            </a:r>
          </a:p>
          <a:p>
            <a:r>
              <a:rPr lang="en-US" altLang="zh-CN" sz="1200" b="1" i="1" dirty="0">
                <a:solidFill>
                  <a:srgbClr val="FD87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things</a:t>
            </a:r>
            <a:endParaRPr lang="zh-CN" altLang="en-US" sz="1200" b="1" i="1" dirty="0">
              <a:solidFill>
                <a:srgbClr val="FD877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AD246BFD-86B2-4DF5-8436-26B422B4D218}"/>
              </a:ext>
            </a:extLst>
          </p:cNvPr>
          <p:cNvCxnSpPr/>
          <p:nvPr/>
        </p:nvCxnSpPr>
        <p:spPr>
          <a:xfrm flipV="1">
            <a:off x="6256020" y="2193939"/>
            <a:ext cx="632460" cy="5035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52621B91-AE17-4426-BB87-52AEFDED2E28}"/>
              </a:ext>
            </a:extLst>
          </p:cNvPr>
          <p:cNvCxnSpPr>
            <a:cxnSpLocks/>
          </p:cNvCxnSpPr>
          <p:nvPr/>
        </p:nvCxnSpPr>
        <p:spPr>
          <a:xfrm>
            <a:off x="6252173" y="2703486"/>
            <a:ext cx="564646" cy="7129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文本框 105">
            <a:extLst>
              <a:ext uri="{FF2B5EF4-FFF2-40B4-BE49-F238E27FC236}">
                <a16:creationId xmlns:a16="http://schemas.microsoft.com/office/drawing/2014/main" id="{B06C00A4-4169-470B-BCB5-F53250BD4348}"/>
              </a:ext>
            </a:extLst>
          </p:cNvPr>
          <p:cNvSpPr txBox="1"/>
          <p:nvPr/>
        </p:nvSpPr>
        <p:spPr>
          <a:xfrm>
            <a:off x="3042937" y="4922625"/>
            <a:ext cx="2145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i="1" dirty="0">
                <a:solidFill>
                  <a:srgbClr val="22308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Stacking model</a:t>
            </a:r>
            <a:endParaRPr lang="zh-CN" altLang="en-US" sz="1400" b="1" i="1" dirty="0">
              <a:solidFill>
                <a:srgbClr val="22308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6200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61EC7853-41EA-4F48-B1D5-E2F3E65CCA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147"/>
            <a:ext cx="2126891" cy="1381538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D8F5D0B-A939-4374-A8C9-92CEF085E482}"/>
              </a:ext>
            </a:extLst>
          </p:cNvPr>
          <p:cNvSpPr/>
          <p:nvPr/>
        </p:nvSpPr>
        <p:spPr>
          <a:xfrm>
            <a:off x="2627586" y="872358"/>
            <a:ext cx="3783724" cy="4845269"/>
          </a:xfrm>
          <a:prstGeom prst="rect">
            <a:avLst/>
          </a:prstGeom>
          <a:noFill/>
          <a:ln w="28575">
            <a:solidFill>
              <a:srgbClr val="2E75B6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FBFC0C8-B57F-46FB-A6C3-2109ED202F84}"/>
              </a:ext>
            </a:extLst>
          </p:cNvPr>
          <p:cNvSpPr/>
          <p:nvPr/>
        </p:nvSpPr>
        <p:spPr>
          <a:xfrm>
            <a:off x="6521668" y="872359"/>
            <a:ext cx="4223897" cy="1401870"/>
          </a:xfrm>
          <a:prstGeom prst="rect">
            <a:avLst/>
          </a:prstGeom>
          <a:noFill/>
          <a:ln w="28575">
            <a:solidFill>
              <a:srgbClr val="C5590F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CF3982-43F6-44DF-B184-CC900FFDBF5B}"/>
              </a:ext>
            </a:extLst>
          </p:cNvPr>
          <p:cNvSpPr/>
          <p:nvPr/>
        </p:nvSpPr>
        <p:spPr>
          <a:xfrm>
            <a:off x="6521668" y="2415556"/>
            <a:ext cx="4223897" cy="3302071"/>
          </a:xfrm>
          <a:prstGeom prst="rect">
            <a:avLst/>
          </a:prstGeom>
          <a:noFill/>
          <a:ln w="28575">
            <a:solidFill>
              <a:srgbClr val="4C7C2C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3792CE9-C28A-4509-AFFF-461AC6EB587F}"/>
              </a:ext>
            </a:extLst>
          </p:cNvPr>
          <p:cNvSpPr/>
          <p:nvPr/>
        </p:nvSpPr>
        <p:spPr>
          <a:xfrm>
            <a:off x="2878608" y="1074157"/>
            <a:ext cx="3322320" cy="426720"/>
          </a:xfrm>
          <a:prstGeom prst="roundRect">
            <a:avLst/>
          </a:prstGeom>
          <a:solidFill>
            <a:srgbClr val="FFE69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Data Preparation &amp; Processing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E77347E-A446-4DC8-8E4E-E0C7795729EA}"/>
              </a:ext>
            </a:extLst>
          </p:cNvPr>
          <p:cNvSpPr/>
          <p:nvPr/>
        </p:nvSpPr>
        <p:spPr>
          <a:xfrm>
            <a:off x="2878608" y="1728180"/>
            <a:ext cx="3322320" cy="426720"/>
          </a:xfrm>
          <a:prstGeom prst="roundRect">
            <a:avLst/>
          </a:prstGeom>
          <a:solidFill>
            <a:srgbClr val="2E75B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Model Constructing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05B8FE3-C863-44D5-9EA5-E68F0DF7EE45}"/>
              </a:ext>
            </a:extLst>
          </p:cNvPr>
          <p:cNvSpPr/>
          <p:nvPr/>
        </p:nvSpPr>
        <p:spPr>
          <a:xfrm>
            <a:off x="2878608" y="2469174"/>
            <a:ext cx="1434662" cy="426720"/>
          </a:xfrm>
          <a:prstGeom prst="roundRect">
            <a:avLst/>
          </a:prstGeom>
          <a:solidFill>
            <a:srgbClr val="9DC3E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Network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8C2148D-7CDA-4F26-956D-5590781E3953}"/>
              </a:ext>
            </a:extLst>
          </p:cNvPr>
          <p:cNvSpPr/>
          <p:nvPr/>
        </p:nvSpPr>
        <p:spPr>
          <a:xfrm>
            <a:off x="2878608" y="3136697"/>
            <a:ext cx="1434662" cy="426720"/>
          </a:xfrm>
          <a:prstGeom prst="roundRect">
            <a:avLst/>
          </a:prstGeom>
          <a:solidFill>
            <a:srgbClr val="9DC3E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Single G-T-I-D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9370D57-78C0-4878-8DDB-E3BC97568BAB}"/>
              </a:ext>
            </a:extLst>
          </p:cNvPr>
          <p:cNvSpPr/>
          <p:nvPr/>
        </p:nvSpPr>
        <p:spPr>
          <a:xfrm>
            <a:off x="2878608" y="3804220"/>
            <a:ext cx="1434662" cy="426720"/>
          </a:xfrm>
          <a:prstGeom prst="roundRect">
            <a:avLst/>
          </a:prstGeom>
          <a:solidFill>
            <a:srgbClr val="9DC3E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correlation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B4F4C3A4-89DC-471D-AAE4-D1A52FFA6B9E}"/>
              </a:ext>
            </a:extLst>
          </p:cNvPr>
          <p:cNvSpPr/>
          <p:nvPr/>
        </p:nvSpPr>
        <p:spPr>
          <a:xfrm>
            <a:off x="2878608" y="4471743"/>
            <a:ext cx="1434662" cy="426720"/>
          </a:xfrm>
          <a:prstGeom prst="roundRect">
            <a:avLst/>
          </a:prstGeom>
          <a:solidFill>
            <a:srgbClr val="9DC3E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Adjacency</a:t>
            </a: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matrix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2D9B8B91-3E56-400A-A20B-33DD4B12BAE6}"/>
              </a:ext>
            </a:extLst>
          </p:cNvPr>
          <p:cNvSpPr/>
          <p:nvPr/>
        </p:nvSpPr>
        <p:spPr>
          <a:xfrm>
            <a:off x="2878608" y="5139267"/>
            <a:ext cx="1434662" cy="426720"/>
          </a:xfrm>
          <a:prstGeom prst="roundRect">
            <a:avLst/>
          </a:prstGeom>
          <a:solidFill>
            <a:srgbClr val="9DC3E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69A97BD5-237C-4D7E-B480-7D9E8E1D51DF}"/>
              </a:ext>
            </a:extLst>
          </p:cNvPr>
          <p:cNvSpPr/>
          <p:nvPr/>
        </p:nvSpPr>
        <p:spPr>
          <a:xfrm>
            <a:off x="4766266" y="2469174"/>
            <a:ext cx="1434662" cy="426720"/>
          </a:xfrm>
          <a:prstGeom prst="roundRect">
            <a:avLst/>
          </a:prstGeom>
          <a:solidFill>
            <a:srgbClr val="8FAAD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Priority</a:t>
            </a: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Selection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C0D8873-139C-4409-A3F6-EB9E525DA90F}"/>
              </a:ext>
            </a:extLst>
          </p:cNvPr>
          <p:cNvSpPr/>
          <p:nvPr/>
        </p:nvSpPr>
        <p:spPr>
          <a:xfrm>
            <a:off x="4766266" y="3136697"/>
            <a:ext cx="1434662" cy="426720"/>
          </a:xfrm>
          <a:prstGeom prst="roundRect">
            <a:avLst/>
          </a:prstGeom>
          <a:solidFill>
            <a:srgbClr val="8FAAD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Dynamics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703B31C0-607B-44E2-9961-329D6A9DB703}"/>
              </a:ext>
            </a:extLst>
          </p:cNvPr>
          <p:cNvSpPr/>
          <p:nvPr/>
        </p:nvSpPr>
        <p:spPr>
          <a:xfrm>
            <a:off x="4818012" y="3804220"/>
            <a:ext cx="1434662" cy="426720"/>
          </a:xfrm>
          <a:prstGeom prst="roundRect">
            <a:avLst/>
          </a:prstGeom>
          <a:solidFill>
            <a:srgbClr val="8FAAD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Row</a:t>
            </a: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Parameter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7F728187-2970-4C51-91EE-31611598B23F}"/>
              </a:ext>
            </a:extLst>
          </p:cNvPr>
          <p:cNvSpPr/>
          <p:nvPr/>
        </p:nvSpPr>
        <p:spPr>
          <a:xfrm>
            <a:off x="4856473" y="4471743"/>
            <a:ext cx="1434662" cy="426720"/>
          </a:xfrm>
          <a:prstGeom prst="roundRect">
            <a:avLst/>
          </a:prstGeom>
          <a:solidFill>
            <a:srgbClr val="8FAAD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score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9CE039D7-FF66-4664-99B5-1C03C9BB8040}"/>
              </a:ext>
            </a:extLst>
          </p:cNvPr>
          <p:cNvSpPr/>
          <p:nvPr/>
        </p:nvSpPr>
        <p:spPr>
          <a:xfrm>
            <a:off x="4820990" y="5139267"/>
            <a:ext cx="1434662" cy="426720"/>
          </a:xfrm>
          <a:prstGeom prst="roundRect">
            <a:avLst/>
          </a:prstGeom>
          <a:solidFill>
            <a:srgbClr val="8FAAD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Method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9A27CB7D-1B8A-47AE-8C2B-F273DFC6838A}"/>
              </a:ext>
            </a:extLst>
          </p:cNvPr>
          <p:cNvSpPr/>
          <p:nvPr/>
        </p:nvSpPr>
        <p:spPr>
          <a:xfrm>
            <a:off x="6580595" y="1065294"/>
            <a:ext cx="4095882" cy="426720"/>
          </a:xfrm>
          <a:prstGeom prst="roundRect">
            <a:avLst/>
          </a:prstGeom>
          <a:solidFill>
            <a:srgbClr val="F4B18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Application of the model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60AEB6BE-FC84-45BB-B8D6-6F690F941493}"/>
              </a:ext>
            </a:extLst>
          </p:cNvPr>
          <p:cNvSpPr/>
          <p:nvPr/>
        </p:nvSpPr>
        <p:spPr>
          <a:xfrm>
            <a:off x="6580595" y="1704813"/>
            <a:ext cx="1781435" cy="426720"/>
          </a:xfrm>
          <a:prstGeom prst="roundRect">
            <a:avLst/>
          </a:prstGeom>
          <a:solidFill>
            <a:srgbClr val="F8CBAD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Network in</a:t>
            </a: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Different regions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EE850BF5-088F-44EC-A12A-E148679893ED}"/>
              </a:ext>
            </a:extLst>
          </p:cNvPr>
          <p:cNvSpPr/>
          <p:nvPr/>
        </p:nvSpPr>
        <p:spPr>
          <a:xfrm>
            <a:off x="8895042" y="1740549"/>
            <a:ext cx="1781435" cy="426720"/>
          </a:xfrm>
          <a:prstGeom prst="roundRect">
            <a:avLst/>
          </a:prstGeom>
          <a:solidFill>
            <a:srgbClr val="F8CBAD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Priority election</a:t>
            </a: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For regions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8CDE079D-B3F4-44E4-87CA-6DBB4A5E661F}"/>
              </a:ext>
            </a:extLst>
          </p:cNvPr>
          <p:cNvSpPr/>
          <p:nvPr/>
        </p:nvSpPr>
        <p:spPr>
          <a:xfrm>
            <a:off x="6580595" y="2522764"/>
            <a:ext cx="4095882" cy="426720"/>
          </a:xfrm>
          <a:prstGeom prst="roundRect">
            <a:avLst/>
          </a:prstGeom>
          <a:solidFill>
            <a:srgbClr val="548235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Correction of the model in different cases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13CCB23E-5B4F-416F-89A3-48B52BFD07D3}"/>
              </a:ext>
            </a:extLst>
          </p:cNvPr>
          <p:cNvSpPr/>
          <p:nvPr/>
        </p:nvSpPr>
        <p:spPr>
          <a:xfrm>
            <a:off x="6621517" y="3102899"/>
            <a:ext cx="1813873" cy="426720"/>
          </a:xfrm>
          <a:prstGeom prst="roundRect">
            <a:avLst/>
          </a:prstGeom>
          <a:solidFill>
            <a:srgbClr val="A9D18E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SDG</a:t>
            </a: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implementation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6B903977-ACBE-4902-BB1A-7B8A479A9583}"/>
              </a:ext>
            </a:extLst>
          </p:cNvPr>
          <p:cNvSpPr/>
          <p:nvPr/>
        </p:nvSpPr>
        <p:spPr>
          <a:xfrm>
            <a:off x="8628536" y="3124620"/>
            <a:ext cx="2069697" cy="426720"/>
          </a:xfrm>
          <a:prstGeom prst="roundRect">
            <a:avLst/>
          </a:prstGeom>
          <a:solidFill>
            <a:srgbClr val="A9D18E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International</a:t>
            </a: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Opportunities/crises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49E2DF90-9808-4A3B-9CF0-8A89266304D8}"/>
              </a:ext>
            </a:extLst>
          </p:cNvPr>
          <p:cNvSpPr/>
          <p:nvPr/>
        </p:nvSpPr>
        <p:spPr>
          <a:xfrm>
            <a:off x="6667726" y="3745830"/>
            <a:ext cx="882834" cy="744201"/>
          </a:xfrm>
          <a:prstGeom prst="roundRect">
            <a:avLst/>
          </a:prstGeom>
          <a:solidFill>
            <a:srgbClr val="C5E0B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Network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14392C64-E3B5-4C58-A229-694D705E4B39}"/>
              </a:ext>
            </a:extLst>
          </p:cNvPr>
          <p:cNvSpPr/>
          <p:nvPr/>
        </p:nvSpPr>
        <p:spPr>
          <a:xfrm>
            <a:off x="7667222" y="3745830"/>
            <a:ext cx="882834" cy="744201"/>
          </a:xfrm>
          <a:prstGeom prst="roundRect">
            <a:avLst/>
          </a:prstGeom>
          <a:solidFill>
            <a:srgbClr val="C5E0B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Priority</a:t>
            </a: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Selection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9522F1FD-ECFC-4A11-838B-9D4BA9518409}"/>
              </a:ext>
            </a:extLst>
          </p:cNvPr>
          <p:cNvSpPr/>
          <p:nvPr/>
        </p:nvSpPr>
        <p:spPr>
          <a:xfrm>
            <a:off x="8715734" y="3773169"/>
            <a:ext cx="882834" cy="744201"/>
          </a:xfrm>
          <a:prstGeom prst="roundRect">
            <a:avLst/>
          </a:prstGeom>
          <a:solidFill>
            <a:srgbClr val="C5E0B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Network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7433B718-0D19-481B-883E-FA5A0F0A8813}"/>
              </a:ext>
            </a:extLst>
          </p:cNvPr>
          <p:cNvSpPr/>
          <p:nvPr/>
        </p:nvSpPr>
        <p:spPr>
          <a:xfrm>
            <a:off x="9815399" y="3745830"/>
            <a:ext cx="882834" cy="744201"/>
          </a:xfrm>
          <a:prstGeom prst="roundRect">
            <a:avLst/>
          </a:prstGeom>
          <a:solidFill>
            <a:srgbClr val="C5E0B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Priority</a:t>
            </a: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Selection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C748745B-F606-4815-8015-6F2BCC2CA441}"/>
              </a:ext>
            </a:extLst>
          </p:cNvPr>
          <p:cNvSpPr/>
          <p:nvPr/>
        </p:nvSpPr>
        <p:spPr>
          <a:xfrm>
            <a:off x="6667726" y="4671952"/>
            <a:ext cx="882834" cy="894035"/>
          </a:xfrm>
          <a:prstGeom prst="roundRect">
            <a:avLst/>
          </a:prstGeom>
          <a:solidFill>
            <a:srgbClr val="E2F0D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7975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One-way</a:t>
            </a:r>
          </a:p>
          <a:p>
            <a:pPr algn="ctr"/>
            <a:r>
              <a:rPr lang="en-US" altLang="zh-CN" sz="1400" b="1" dirty="0">
                <a:solidFill>
                  <a:srgbClr val="7975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</a:t>
            </a:r>
            <a:endParaRPr lang="zh-CN" altLang="en-US" sz="1400" b="1" dirty="0">
              <a:solidFill>
                <a:srgbClr val="7975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46F9A625-1F6D-4E3D-B167-F50A16ED25A3}"/>
              </a:ext>
            </a:extLst>
          </p:cNvPr>
          <p:cNvSpPr/>
          <p:nvPr/>
        </p:nvSpPr>
        <p:spPr>
          <a:xfrm>
            <a:off x="7716950" y="4671951"/>
            <a:ext cx="882834" cy="894035"/>
          </a:xfrm>
          <a:prstGeom prst="roundRect">
            <a:avLst/>
          </a:prstGeom>
          <a:solidFill>
            <a:srgbClr val="E2F0D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7975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be achieved</a:t>
            </a:r>
            <a:endParaRPr lang="zh-CN" altLang="en-US" sz="1400" b="1" dirty="0">
              <a:solidFill>
                <a:srgbClr val="7975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5B50FCC0-0B52-4079-AA7D-553067A3BFB6}"/>
              </a:ext>
            </a:extLst>
          </p:cNvPr>
          <p:cNvSpPr/>
          <p:nvPr/>
        </p:nvSpPr>
        <p:spPr>
          <a:xfrm>
            <a:off x="8766174" y="4671951"/>
            <a:ext cx="882834" cy="894035"/>
          </a:xfrm>
          <a:prstGeom prst="roundRect">
            <a:avLst/>
          </a:prstGeom>
          <a:solidFill>
            <a:srgbClr val="E2F0D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7975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G’=</a:t>
            </a:r>
            <a:r>
              <a:rPr lang="en-US" altLang="zh-CN" sz="1400" b="1" dirty="0" err="1">
                <a:solidFill>
                  <a:srgbClr val="7975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G+c</a:t>
            </a:r>
            <a:r>
              <a:rPr lang="zh-CN" altLang="en-US" sz="1400" b="1" dirty="0">
                <a:solidFill>
                  <a:srgbClr val="7975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▲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5DA52164-F049-4D70-9F85-DE41E25A6151}"/>
              </a:ext>
            </a:extLst>
          </p:cNvPr>
          <p:cNvSpPr/>
          <p:nvPr/>
        </p:nvSpPr>
        <p:spPr>
          <a:xfrm>
            <a:off x="9815399" y="4656811"/>
            <a:ext cx="882834" cy="894035"/>
          </a:xfrm>
          <a:prstGeom prst="roundRect">
            <a:avLst/>
          </a:prstGeom>
          <a:solidFill>
            <a:srgbClr val="E2F0D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7975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 </a:t>
            </a:r>
          </a:p>
          <a:p>
            <a:pPr algn="ctr"/>
            <a:r>
              <a:rPr lang="en-US" altLang="zh-CN" sz="1400" b="1" dirty="0">
                <a:solidFill>
                  <a:srgbClr val="7975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zh-CN" altLang="en-US" sz="1400" b="1" dirty="0">
                <a:solidFill>
                  <a:srgbClr val="7975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b="1" dirty="0">
                <a:solidFill>
                  <a:srgbClr val="7975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</a:t>
            </a:r>
            <a:endParaRPr lang="zh-CN" altLang="en-US" sz="1400" b="1" dirty="0">
              <a:solidFill>
                <a:srgbClr val="7975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A881A1D5-095F-4F8F-9F4B-49E6C4FCC61E}"/>
              </a:ext>
            </a:extLst>
          </p:cNvPr>
          <p:cNvSpPr/>
          <p:nvPr/>
        </p:nvSpPr>
        <p:spPr>
          <a:xfrm>
            <a:off x="2652110" y="5834317"/>
            <a:ext cx="8093455" cy="426720"/>
          </a:xfrm>
          <a:prstGeom prst="roundRect">
            <a:avLst/>
          </a:prstGeom>
          <a:solidFill>
            <a:srgbClr val="A6A6A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Promote to other organizations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3816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6619A53-00AF-489C-BBF5-AF5CC7491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1" y="84394"/>
            <a:ext cx="1894139" cy="1245947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A1BF698-5F77-4D94-8886-4F5073458B13}"/>
              </a:ext>
            </a:extLst>
          </p:cNvPr>
          <p:cNvSpPr/>
          <p:nvPr/>
        </p:nvSpPr>
        <p:spPr>
          <a:xfrm>
            <a:off x="2102868" y="411100"/>
            <a:ext cx="4698124" cy="5050221"/>
          </a:xfrm>
          <a:prstGeom prst="rect">
            <a:avLst/>
          </a:prstGeom>
          <a:noFill/>
          <a:ln w="38100">
            <a:solidFill>
              <a:srgbClr val="2E75B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12B4EE6-67CC-4B28-A5DF-C4BD13FB2FA9}"/>
              </a:ext>
            </a:extLst>
          </p:cNvPr>
          <p:cNvSpPr/>
          <p:nvPr/>
        </p:nvSpPr>
        <p:spPr>
          <a:xfrm>
            <a:off x="7034320" y="411099"/>
            <a:ext cx="4517137" cy="5050221"/>
          </a:xfrm>
          <a:prstGeom prst="rect">
            <a:avLst/>
          </a:prstGeom>
          <a:noFill/>
          <a:ln w="38100">
            <a:solidFill>
              <a:srgbClr val="EA742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B104D24-8C26-43E9-9179-A69B85F71979}"/>
              </a:ext>
            </a:extLst>
          </p:cNvPr>
          <p:cNvSpPr/>
          <p:nvPr/>
        </p:nvSpPr>
        <p:spPr>
          <a:xfrm>
            <a:off x="2102868" y="5684140"/>
            <a:ext cx="9448589" cy="809258"/>
          </a:xfrm>
          <a:prstGeom prst="rect">
            <a:avLst/>
          </a:prstGeom>
          <a:noFill/>
          <a:ln w="38100">
            <a:solidFill>
              <a:srgbClr val="6A9C47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79BD37F-2D5E-4150-A728-37E5FD50175F}"/>
              </a:ext>
            </a:extLst>
          </p:cNvPr>
          <p:cNvSpPr/>
          <p:nvPr/>
        </p:nvSpPr>
        <p:spPr>
          <a:xfrm>
            <a:off x="2317695" y="578604"/>
            <a:ext cx="4278630" cy="647700"/>
          </a:xfrm>
          <a:prstGeom prst="rect">
            <a:avLst/>
          </a:prstGeom>
          <a:noFill/>
          <a:ln w="25400">
            <a:solidFill>
              <a:srgbClr val="2F75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D908B91-46C5-4457-AE64-0C71F7A06144}"/>
              </a:ext>
            </a:extLst>
          </p:cNvPr>
          <p:cNvSpPr/>
          <p:nvPr/>
        </p:nvSpPr>
        <p:spPr>
          <a:xfrm>
            <a:off x="2317695" y="1346521"/>
            <a:ext cx="4278630" cy="847344"/>
          </a:xfrm>
          <a:prstGeom prst="roundRect">
            <a:avLst/>
          </a:prstGeom>
          <a:noFill/>
          <a:ln w="25400">
            <a:solidFill>
              <a:srgbClr val="2F75B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F04D61D-7F2D-4570-8C33-2FAEA785FC7B}"/>
              </a:ext>
            </a:extLst>
          </p:cNvPr>
          <p:cNvSpPr/>
          <p:nvPr/>
        </p:nvSpPr>
        <p:spPr>
          <a:xfrm>
            <a:off x="2317695" y="2399071"/>
            <a:ext cx="4278630" cy="1044473"/>
          </a:xfrm>
          <a:prstGeom prst="roundRect">
            <a:avLst/>
          </a:prstGeom>
          <a:noFill/>
          <a:ln w="25400">
            <a:solidFill>
              <a:srgbClr val="2F75B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DE425CB-56BF-46AE-8145-ED6359C487A0}"/>
              </a:ext>
            </a:extLst>
          </p:cNvPr>
          <p:cNvSpPr/>
          <p:nvPr/>
        </p:nvSpPr>
        <p:spPr>
          <a:xfrm>
            <a:off x="2317695" y="3593853"/>
            <a:ext cx="4278630" cy="1638868"/>
          </a:xfrm>
          <a:prstGeom prst="roundRect">
            <a:avLst/>
          </a:prstGeom>
          <a:noFill/>
          <a:ln w="25400">
            <a:solidFill>
              <a:srgbClr val="2F75B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4249CE4-CDB3-4232-B4F6-E02A61C93B9A}"/>
              </a:ext>
            </a:extLst>
          </p:cNvPr>
          <p:cNvSpPr txBox="1"/>
          <p:nvPr/>
        </p:nvSpPr>
        <p:spPr>
          <a:xfrm>
            <a:off x="2490030" y="547749"/>
            <a:ext cx="39237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Plant Community Succession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Model Based on Ecological Niche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8C74011-859C-4064-A478-EAE6B2A12C3E}"/>
              </a:ext>
            </a:extLst>
          </p:cNvPr>
          <p:cNvSpPr txBox="1"/>
          <p:nvPr/>
        </p:nvSpPr>
        <p:spPr>
          <a:xfrm>
            <a:off x="2302836" y="1541796"/>
            <a:ext cx="2095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Initial Conditions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FA949BC-C4C3-4F4F-B696-ECF0BE0A694E}"/>
              </a:ext>
            </a:extLst>
          </p:cNvPr>
          <p:cNvSpPr txBox="1"/>
          <p:nvPr/>
        </p:nvSpPr>
        <p:spPr>
          <a:xfrm>
            <a:off x="4767371" y="1436944"/>
            <a:ext cx="1557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Species Niche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Characteristics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55AD489-2D90-42C1-BE24-656165EBC9FC}"/>
              </a:ext>
            </a:extLst>
          </p:cNvPr>
          <p:cNvSpPr/>
          <p:nvPr/>
        </p:nvSpPr>
        <p:spPr>
          <a:xfrm>
            <a:off x="2431841" y="1519299"/>
            <a:ext cx="1843050" cy="414325"/>
          </a:xfrm>
          <a:prstGeom prst="rect">
            <a:avLst/>
          </a:prstGeom>
          <a:noFill/>
          <a:ln w="19050">
            <a:solidFill>
              <a:srgbClr val="2A72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C49A3C8-EF09-404D-8ACE-701106061C07}"/>
              </a:ext>
            </a:extLst>
          </p:cNvPr>
          <p:cNvSpPr/>
          <p:nvPr/>
        </p:nvSpPr>
        <p:spPr>
          <a:xfrm>
            <a:off x="4570779" y="1460841"/>
            <a:ext cx="1894636" cy="605770"/>
          </a:xfrm>
          <a:prstGeom prst="rect">
            <a:avLst/>
          </a:prstGeom>
          <a:noFill/>
          <a:ln w="19050">
            <a:solidFill>
              <a:srgbClr val="2A72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1800C40-357C-47C6-AA31-502001542EB0}"/>
              </a:ext>
            </a:extLst>
          </p:cNvPr>
          <p:cNvSpPr/>
          <p:nvPr/>
        </p:nvSpPr>
        <p:spPr>
          <a:xfrm>
            <a:off x="2555131" y="2794238"/>
            <a:ext cx="1565302" cy="414325"/>
          </a:xfrm>
          <a:prstGeom prst="rect">
            <a:avLst/>
          </a:prstGeom>
          <a:noFill/>
          <a:ln w="19050">
            <a:solidFill>
              <a:srgbClr val="2A72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B43DA4F-6EFF-43E8-BE82-7B814A77B3E6}"/>
              </a:ext>
            </a:extLst>
          </p:cNvPr>
          <p:cNvSpPr/>
          <p:nvPr/>
        </p:nvSpPr>
        <p:spPr>
          <a:xfrm>
            <a:off x="4767371" y="2812018"/>
            <a:ext cx="1565302" cy="414325"/>
          </a:xfrm>
          <a:prstGeom prst="rect">
            <a:avLst/>
          </a:prstGeom>
          <a:noFill/>
          <a:ln w="19050">
            <a:solidFill>
              <a:srgbClr val="2A72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A4468C2-A38A-49EF-8BBD-03BE6A32B60B}"/>
              </a:ext>
            </a:extLst>
          </p:cNvPr>
          <p:cNvSpPr txBox="1"/>
          <p:nvPr/>
        </p:nvSpPr>
        <p:spPr>
          <a:xfrm>
            <a:off x="2272089" y="2822887"/>
            <a:ext cx="2095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Reproduction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4AA7AA6-4339-41CC-8D3E-C23AAFEDDD57}"/>
              </a:ext>
            </a:extLst>
          </p:cNvPr>
          <p:cNvSpPr txBox="1"/>
          <p:nvPr/>
        </p:nvSpPr>
        <p:spPr>
          <a:xfrm>
            <a:off x="4535079" y="2822887"/>
            <a:ext cx="2095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Mortality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2DE11E9-47B4-4E2B-B4DF-A9373EDEAD00}"/>
              </a:ext>
            </a:extLst>
          </p:cNvPr>
          <p:cNvSpPr txBox="1"/>
          <p:nvPr/>
        </p:nvSpPr>
        <p:spPr>
          <a:xfrm>
            <a:off x="3500246" y="2403000"/>
            <a:ext cx="2095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Internal Effects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C77739A-8BE3-40BC-B149-E748E3B31289}"/>
              </a:ext>
            </a:extLst>
          </p:cNvPr>
          <p:cNvSpPr txBox="1"/>
          <p:nvPr/>
        </p:nvSpPr>
        <p:spPr>
          <a:xfrm>
            <a:off x="3487406" y="3601156"/>
            <a:ext cx="2095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External Effects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5F38AEA-D315-4948-8063-BD2B7786BE23}"/>
              </a:ext>
            </a:extLst>
          </p:cNvPr>
          <p:cNvSpPr/>
          <p:nvPr/>
        </p:nvSpPr>
        <p:spPr>
          <a:xfrm>
            <a:off x="2748075" y="3991342"/>
            <a:ext cx="3402326" cy="414325"/>
          </a:xfrm>
          <a:prstGeom prst="rect">
            <a:avLst/>
          </a:prstGeom>
          <a:noFill/>
          <a:ln w="19050">
            <a:solidFill>
              <a:srgbClr val="2A72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EB6081E-68BF-4F44-87FB-F16B7E6FBC5D}"/>
              </a:ext>
            </a:extLst>
          </p:cNvPr>
          <p:cNvSpPr txBox="1"/>
          <p:nvPr/>
        </p:nvSpPr>
        <p:spPr>
          <a:xfrm>
            <a:off x="2666271" y="3982903"/>
            <a:ext cx="3402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Irregular Weather Cycles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97C9866-13F0-4E65-A8F0-2DA540D62497}"/>
              </a:ext>
            </a:extLst>
          </p:cNvPr>
          <p:cNvSpPr txBox="1"/>
          <p:nvPr/>
        </p:nvSpPr>
        <p:spPr>
          <a:xfrm>
            <a:off x="2740455" y="4506490"/>
            <a:ext cx="1523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Degree of Drought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6777678-A520-4BF9-AA76-31094B91C764}"/>
              </a:ext>
            </a:extLst>
          </p:cNvPr>
          <p:cNvSpPr txBox="1"/>
          <p:nvPr/>
        </p:nvSpPr>
        <p:spPr>
          <a:xfrm>
            <a:off x="4633202" y="4487237"/>
            <a:ext cx="1523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Duration of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Drought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22F0EB8-C9F8-497A-B517-249BAA9D034A}"/>
              </a:ext>
            </a:extLst>
          </p:cNvPr>
          <p:cNvSpPr/>
          <p:nvPr/>
        </p:nvSpPr>
        <p:spPr>
          <a:xfrm>
            <a:off x="4672813" y="4534122"/>
            <a:ext cx="1483965" cy="599446"/>
          </a:xfrm>
          <a:prstGeom prst="rect">
            <a:avLst/>
          </a:prstGeom>
          <a:noFill/>
          <a:ln w="19050">
            <a:solidFill>
              <a:srgbClr val="2A72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20604C9-B398-47C0-8D42-391836EC01CF}"/>
              </a:ext>
            </a:extLst>
          </p:cNvPr>
          <p:cNvSpPr/>
          <p:nvPr/>
        </p:nvSpPr>
        <p:spPr>
          <a:xfrm>
            <a:off x="2758263" y="4519470"/>
            <a:ext cx="1483965" cy="614097"/>
          </a:xfrm>
          <a:prstGeom prst="rect">
            <a:avLst/>
          </a:prstGeom>
          <a:noFill/>
          <a:ln w="19050">
            <a:solidFill>
              <a:srgbClr val="2A72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E854096-A732-4349-9CA7-D393733351D9}"/>
              </a:ext>
            </a:extLst>
          </p:cNvPr>
          <p:cNvSpPr/>
          <p:nvPr/>
        </p:nvSpPr>
        <p:spPr>
          <a:xfrm>
            <a:off x="7341026" y="576745"/>
            <a:ext cx="3922241" cy="525936"/>
          </a:xfrm>
          <a:prstGeom prst="rect">
            <a:avLst/>
          </a:prstGeom>
          <a:noFill/>
          <a:ln w="25400">
            <a:solidFill>
              <a:srgbClr val="EA7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D6F8897-F5A1-4B7E-9D45-77AA9B94429E}"/>
              </a:ext>
            </a:extLst>
          </p:cNvPr>
          <p:cNvSpPr txBox="1"/>
          <p:nvPr/>
        </p:nvSpPr>
        <p:spPr>
          <a:xfrm>
            <a:off x="7793427" y="639658"/>
            <a:ext cx="2998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Application of the Model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3E86C34-F84E-4BC7-8664-6DC318B217D0}"/>
              </a:ext>
            </a:extLst>
          </p:cNvPr>
          <p:cNvSpPr/>
          <p:nvPr/>
        </p:nvSpPr>
        <p:spPr>
          <a:xfrm>
            <a:off x="7510074" y="1346520"/>
            <a:ext cx="3639047" cy="587103"/>
          </a:xfrm>
          <a:prstGeom prst="rect">
            <a:avLst/>
          </a:prstGeom>
          <a:noFill/>
          <a:ln w="25400">
            <a:solidFill>
              <a:srgbClr val="EA7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8E08DD9-1E24-4223-A227-C29E8ADB7327}"/>
              </a:ext>
            </a:extLst>
          </p:cNvPr>
          <p:cNvSpPr/>
          <p:nvPr/>
        </p:nvSpPr>
        <p:spPr>
          <a:xfrm>
            <a:off x="7510074" y="2235784"/>
            <a:ext cx="3639047" cy="587103"/>
          </a:xfrm>
          <a:prstGeom prst="rect">
            <a:avLst/>
          </a:prstGeom>
          <a:noFill/>
          <a:ln w="25400">
            <a:solidFill>
              <a:srgbClr val="EA7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DA35E42-A584-4255-9E72-8859080E9D5B}"/>
              </a:ext>
            </a:extLst>
          </p:cNvPr>
          <p:cNvSpPr/>
          <p:nvPr/>
        </p:nvSpPr>
        <p:spPr>
          <a:xfrm>
            <a:off x="7510074" y="3027802"/>
            <a:ext cx="3639047" cy="587103"/>
          </a:xfrm>
          <a:prstGeom prst="rect">
            <a:avLst/>
          </a:prstGeom>
          <a:noFill/>
          <a:ln w="25400">
            <a:solidFill>
              <a:srgbClr val="EA7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28F3309-6B02-4E4E-AB84-CEBB404CCD8F}"/>
              </a:ext>
            </a:extLst>
          </p:cNvPr>
          <p:cNvSpPr/>
          <p:nvPr/>
        </p:nvSpPr>
        <p:spPr>
          <a:xfrm>
            <a:off x="7766036" y="3874017"/>
            <a:ext cx="3026313" cy="587103"/>
          </a:xfrm>
          <a:prstGeom prst="rect">
            <a:avLst/>
          </a:prstGeom>
          <a:noFill/>
          <a:ln w="25400">
            <a:solidFill>
              <a:srgbClr val="EA7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AC5BD47-2D66-4DEF-A101-ECDD3096CB7C}"/>
              </a:ext>
            </a:extLst>
          </p:cNvPr>
          <p:cNvSpPr/>
          <p:nvPr/>
        </p:nvSpPr>
        <p:spPr>
          <a:xfrm>
            <a:off x="7510074" y="4731746"/>
            <a:ext cx="3639047" cy="587103"/>
          </a:xfrm>
          <a:prstGeom prst="rect">
            <a:avLst/>
          </a:prstGeom>
          <a:noFill/>
          <a:ln w="25400">
            <a:solidFill>
              <a:srgbClr val="EA7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4667315-40A5-437E-9834-B8EAFF3C71CD}"/>
              </a:ext>
            </a:extLst>
          </p:cNvPr>
          <p:cNvSpPr txBox="1"/>
          <p:nvPr/>
        </p:nvSpPr>
        <p:spPr>
          <a:xfrm>
            <a:off x="7483665" y="1330341"/>
            <a:ext cx="3534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Effect of the Number of Species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on the Community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157AF08-B0CD-438F-9C7D-D456E3672DDD}"/>
              </a:ext>
            </a:extLst>
          </p:cNvPr>
          <p:cNvSpPr txBox="1"/>
          <p:nvPr/>
        </p:nvSpPr>
        <p:spPr>
          <a:xfrm>
            <a:off x="7597245" y="2185115"/>
            <a:ext cx="3534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Impact of the Types of Species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on Community Evolution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7D23D6A-29B6-4DEB-BF07-618765FE5674}"/>
              </a:ext>
            </a:extLst>
          </p:cNvPr>
          <p:cNvSpPr txBox="1"/>
          <p:nvPr/>
        </p:nvSpPr>
        <p:spPr>
          <a:xfrm>
            <a:off x="7578271" y="3027802"/>
            <a:ext cx="3534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The Effects of the Severity of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Drought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4F12A99-2291-43CC-A31D-B3865D4B18B1}"/>
              </a:ext>
            </a:extLst>
          </p:cNvPr>
          <p:cNvSpPr txBox="1"/>
          <p:nvPr/>
        </p:nvSpPr>
        <p:spPr>
          <a:xfrm>
            <a:off x="7940223" y="3890809"/>
            <a:ext cx="28216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The impact of Pollution and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Habitat Reduction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E786D289-8952-469C-9F68-AE182C647249}"/>
              </a:ext>
            </a:extLst>
          </p:cNvPr>
          <p:cNvSpPr txBox="1"/>
          <p:nvPr/>
        </p:nvSpPr>
        <p:spPr>
          <a:xfrm>
            <a:off x="7649215" y="4713176"/>
            <a:ext cx="3534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Measures that Allow a Plant Community to Live Longer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A0072E4-2B44-46F1-893A-F30218B9B627}"/>
              </a:ext>
            </a:extLst>
          </p:cNvPr>
          <p:cNvSpPr/>
          <p:nvPr/>
        </p:nvSpPr>
        <p:spPr>
          <a:xfrm>
            <a:off x="3387516" y="5832554"/>
            <a:ext cx="2407285" cy="522152"/>
          </a:xfrm>
          <a:prstGeom prst="rect">
            <a:avLst/>
          </a:prstGeom>
          <a:noFill/>
          <a:ln w="25400">
            <a:solidFill>
              <a:srgbClr val="6A9C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7669945B-A7C3-4425-897F-56047447EE09}"/>
              </a:ext>
            </a:extLst>
          </p:cNvPr>
          <p:cNvSpPr txBox="1"/>
          <p:nvPr/>
        </p:nvSpPr>
        <p:spPr>
          <a:xfrm>
            <a:off x="3413653" y="5888714"/>
            <a:ext cx="238114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A9C47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Sensitivity Analysis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6A9C47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771B1998-DDB7-44C0-862E-B8A272C021DD}"/>
              </a:ext>
            </a:extLst>
          </p:cNvPr>
          <p:cNvSpPr txBox="1"/>
          <p:nvPr/>
        </p:nvSpPr>
        <p:spPr>
          <a:xfrm>
            <a:off x="6793488" y="5886330"/>
            <a:ext cx="377960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A9C47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Strengths and Weaknesses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6A9C47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6AE4FF8-5F55-4906-AA51-EC31C9D9F410}"/>
              </a:ext>
            </a:extLst>
          </p:cNvPr>
          <p:cNvSpPr/>
          <p:nvPr/>
        </p:nvSpPr>
        <p:spPr>
          <a:xfrm>
            <a:off x="6743747" y="5825309"/>
            <a:ext cx="3899406" cy="522152"/>
          </a:xfrm>
          <a:prstGeom prst="rect">
            <a:avLst/>
          </a:prstGeom>
          <a:noFill/>
          <a:ln w="25400">
            <a:solidFill>
              <a:srgbClr val="6A9C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7" name="箭头: 下 46">
            <a:extLst>
              <a:ext uri="{FF2B5EF4-FFF2-40B4-BE49-F238E27FC236}">
                <a16:creationId xmlns:a16="http://schemas.microsoft.com/office/drawing/2014/main" id="{85610FB1-DC56-4627-82AF-15622AAA0CFB}"/>
              </a:ext>
            </a:extLst>
          </p:cNvPr>
          <p:cNvSpPr/>
          <p:nvPr/>
        </p:nvSpPr>
        <p:spPr>
          <a:xfrm>
            <a:off x="4292115" y="2084953"/>
            <a:ext cx="269650" cy="388299"/>
          </a:xfrm>
          <a:prstGeom prst="downArrow">
            <a:avLst/>
          </a:prstGeom>
          <a:solidFill>
            <a:srgbClr val="DAE3F3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8" name="箭头: 下 47">
            <a:extLst>
              <a:ext uri="{FF2B5EF4-FFF2-40B4-BE49-F238E27FC236}">
                <a16:creationId xmlns:a16="http://schemas.microsoft.com/office/drawing/2014/main" id="{65089346-C97C-44B9-9B38-8ACEFE719BFD}"/>
              </a:ext>
            </a:extLst>
          </p:cNvPr>
          <p:cNvSpPr/>
          <p:nvPr/>
        </p:nvSpPr>
        <p:spPr>
          <a:xfrm>
            <a:off x="4292115" y="3318741"/>
            <a:ext cx="269650" cy="388299"/>
          </a:xfrm>
          <a:prstGeom prst="downArrow">
            <a:avLst/>
          </a:prstGeom>
          <a:solidFill>
            <a:srgbClr val="DAE3F3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9" name="箭头: 下 48">
            <a:extLst>
              <a:ext uri="{FF2B5EF4-FFF2-40B4-BE49-F238E27FC236}">
                <a16:creationId xmlns:a16="http://schemas.microsoft.com/office/drawing/2014/main" id="{7DDC140B-57FA-4786-8E46-3755B933B367}"/>
              </a:ext>
            </a:extLst>
          </p:cNvPr>
          <p:cNvSpPr/>
          <p:nvPr/>
        </p:nvSpPr>
        <p:spPr>
          <a:xfrm rot="1435775">
            <a:off x="3640737" y="4287914"/>
            <a:ext cx="218537" cy="314696"/>
          </a:xfrm>
          <a:prstGeom prst="downArrow">
            <a:avLst/>
          </a:prstGeom>
          <a:solidFill>
            <a:srgbClr val="DAE3F3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0" name="箭头: 下 49">
            <a:extLst>
              <a:ext uri="{FF2B5EF4-FFF2-40B4-BE49-F238E27FC236}">
                <a16:creationId xmlns:a16="http://schemas.microsoft.com/office/drawing/2014/main" id="{22247FA1-0423-42EB-96D8-A8B5DAD15083}"/>
              </a:ext>
            </a:extLst>
          </p:cNvPr>
          <p:cNvSpPr/>
          <p:nvPr/>
        </p:nvSpPr>
        <p:spPr>
          <a:xfrm rot="20240136">
            <a:off x="5151345" y="4288590"/>
            <a:ext cx="218537" cy="314696"/>
          </a:xfrm>
          <a:prstGeom prst="downArrow">
            <a:avLst/>
          </a:prstGeom>
          <a:solidFill>
            <a:srgbClr val="DAE3F3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1" name="箭头: 下 50">
            <a:extLst>
              <a:ext uri="{FF2B5EF4-FFF2-40B4-BE49-F238E27FC236}">
                <a16:creationId xmlns:a16="http://schemas.microsoft.com/office/drawing/2014/main" id="{1E00C1D4-E5C9-4387-AFFF-90D4987A6F96}"/>
              </a:ext>
            </a:extLst>
          </p:cNvPr>
          <p:cNvSpPr/>
          <p:nvPr/>
        </p:nvSpPr>
        <p:spPr>
          <a:xfrm>
            <a:off x="9192877" y="1895754"/>
            <a:ext cx="218537" cy="314696"/>
          </a:xfrm>
          <a:prstGeom prst="downArrow">
            <a:avLst/>
          </a:prstGeom>
          <a:solidFill>
            <a:srgbClr val="FBE5D6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2" name="箭头: 下 51">
            <a:extLst>
              <a:ext uri="{FF2B5EF4-FFF2-40B4-BE49-F238E27FC236}">
                <a16:creationId xmlns:a16="http://schemas.microsoft.com/office/drawing/2014/main" id="{23D7D0D1-E52C-4D4A-94D6-A91C0A244AF8}"/>
              </a:ext>
            </a:extLst>
          </p:cNvPr>
          <p:cNvSpPr/>
          <p:nvPr/>
        </p:nvSpPr>
        <p:spPr>
          <a:xfrm>
            <a:off x="9204877" y="2762116"/>
            <a:ext cx="218537" cy="314696"/>
          </a:xfrm>
          <a:prstGeom prst="downArrow">
            <a:avLst/>
          </a:prstGeom>
          <a:solidFill>
            <a:srgbClr val="FBE5D6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3" name="箭头: 下 52">
            <a:extLst>
              <a:ext uri="{FF2B5EF4-FFF2-40B4-BE49-F238E27FC236}">
                <a16:creationId xmlns:a16="http://schemas.microsoft.com/office/drawing/2014/main" id="{85ECAC33-B17C-46B0-8CE6-FFC7E6C3C9D4}"/>
              </a:ext>
            </a:extLst>
          </p:cNvPr>
          <p:cNvSpPr/>
          <p:nvPr/>
        </p:nvSpPr>
        <p:spPr>
          <a:xfrm>
            <a:off x="9206687" y="3568967"/>
            <a:ext cx="218537" cy="314696"/>
          </a:xfrm>
          <a:prstGeom prst="downArrow">
            <a:avLst/>
          </a:prstGeom>
          <a:solidFill>
            <a:srgbClr val="FBE5D6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4" name="箭头: 下 53">
            <a:extLst>
              <a:ext uri="{FF2B5EF4-FFF2-40B4-BE49-F238E27FC236}">
                <a16:creationId xmlns:a16="http://schemas.microsoft.com/office/drawing/2014/main" id="{6FEAB89D-9574-46E2-A562-387AF78687AD}"/>
              </a:ext>
            </a:extLst>
          </p:cNvPr>
          <p:cNvSpPr/>
          <p:nvPr/>
        </p:nvSpPr>
        <p:spPr>
          <a:xfrm>
            <a:off x="9220328" y="4443532"/>
            <a:ext cx="218537" cy="314696"/>
          </a:xfrm>
          <a:prstGeom prst="downArrow">
            <a:avLst/>
          </a:prstGeom>
          <a:solidFill>
            <a:srgbClr val="FBE5D6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5" name="箭头: 下 54">
            <a:extLst>
              <a:ext uri="{FF2B5EF4-FFF2-40B4-BE49-F238E27FC236}">
                <a16:creationId xmlns:a16="http://schemas.microsoft.com/office/drawing/2014/main" id="{F805BFB9-69E5-43D9-8202-2E74C2BB8605}"/>
              </a:ext>
            </a:extLst>
          </p:cNvPr>
          <p:cNvSpPr/>
          <p:nvPr/>
        </p:nvSpPr>
        <p:spPr>
          <a:xfrm rot="16200000">
            <a:off x="6139685" y="5929036"/>
            <a:ext cx="218537" cy="314696"/>
          </a:xfrm>
          <a:prstGeom prst="downArrow">
            <a:avLst/>
          </a:prstGeom>
          <a:solidFill>
            <a:srgbClr val="B3D59B"/>
          </a:solidFill>
          <a:ln>
            <a:solidFill>
              <a:srgbClr val="6A9C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4617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>
          <a:solidFill>
            <a:schemeClr val="bg2">
              <a:lumMod val="50000"/>
            </a:schemeClr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954</Words>
  <Application>Microsoft Office PowerPoint</Application>
  <PresentationFormat>宽屏</PresentationFormat>
  <Paragraphs>355</Paragraphs>
  <Slides>10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等线</vt:lpstr>
      <vt:lpstr>等线 Light</vt:lpstr>
      <vt:lpstr>Arial</vt:lpstr>
      <vt:lpstr>Calibri</vt:lpstr>
      <vt:lpstr>Times New Roman</vt:lpstr>
      <vt:lpstr>Wingdings</vt:lpstr>
      <vt:lpstr>Office 主题​​</vt:lpstr>
      <vt:lpstr>AxMath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Lenovo</cp:lastModifiedBy>
  <cp:revision>32</cp:revision>
  <dcterms:created xsi:type="dcterms:W3CDTF">2024-02-03T03:27:31Z</dcterms:created>
  <dcterms:modified xsi:type="dcterms:W3CDTF">2024-02-03T08:15:51Z</dcterms:modified>
</cp:coreProperties>
</file>